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66" r:id="rId5"/>
    <p:sldId id="284" r:id="rId6"/>
    <p:sldId id="285" r:id="rId7"/>
    <p:sldId id="286" r:id="rId8"/>
    <p:sldId id="267" r:id="rId9"/>
    <p:sldId id="259" r:id="rId10"/>
    <p:sldId id="283" r:id="rId11"/>
    <p:sldId id="269" r:id="rId12"/>
    <p:sldId id="270" r:id="rId13"/>
    <p:sldId id="271" r:id="rId14"/>
    <p:sldId id="272" r:id="rId15"/>
    <p:sldId id="276" r:id="rId16"/>
    <p:sldId id="277" r:id="rId17"/>
    <p:sldId id="278" r:id="rId18"/>
    <p:sldId id="279" r:id="rId19"/>
    <p:sldId id="281" r:id="rId20"/>
    <p:sldId id="280" r:id="rId21"/>
    <p:sldId id="275" r:id="rId22"/>
    <p:sldId id="282" r:id="rId23"/>
  </p:sldIdLst>
  <p:sldSz cx="9144000" cy="5143500" type="screen16x9"/>
  <p:notesSz cx="6858000" cy="9144000"/>
  <p:embeddedFontLst>
    <p:embeddedFont>
      <p:font typeface="Candara" panose="020E0502030303020204" pitchFamily="34" charset="0"/>
      <p:regular r:id="rId25"/>
      <p:bold r:id="rId26"/>
      <p:italic r:id="rId27"/>
      <p:boldItalic r:id="rId28"/>
    </p:embeddedFont>
    <p:embeddedFont>
      <p:font typeface="Consolas" panose="020B0609020204030204" pitchFamily="49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767" autoAdjust="0"/>
  </p:normalViewPr>
  <p:slideViewPr>
    <p:cSldViewPr snapToGrid="0">
      <p:cViewPr varScale="1">
        <p:scale>
          <a:sx n="128" d="100"/>
          <a:sy n="128" d="100"/>
        </p:scale>
        <p:origin x="93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a3c89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a3c89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20 сек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Задать вопрос и </a:t>
            </a:r>
            <a:r>
              <a:rPr lang="ru-RU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**поднять руку самому**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чтобы зал подхватил.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Пауза, оглядеть зал: «Почти половина. Остальные просто стесняются».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1c5b506339e50097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1c5b506339e50097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20 сек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Ждём смех и узнавание.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«А что будет, если этот человек заболеет или уйдёт?» Короткая пауза.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«Запомните эту таблицу, мы к ней вернёмся». Это закладка для кейса.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60 сек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Только картинка. «Я постоянно вижу одну и ту же историю: предприниматель подключает ChatGPT и неделю в восторге. А вот так он выглядит через месяц». Пауза, ждём смех. «Всё ещё жмёт эту кнопку».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Клик 1. «Такой кнопки нет. И проблема не в AI. Проблема в том, что мы ждём: нажал, и бизнес работает сам».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Клик 2. «AI — это не кнопка. Это новый сотрудник. Очень способный, очень быстрый, но ничего не знающий о вашем бизнесе».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Подавать как своё наблюдение, не как статистику.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3717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60 сек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Только картинка. «Я постоянно вижу одну и ту же историю: предприниматель подключает ChatGPT и неделю в восторге. А вот так он выглядит через месяц». Пауза, ждём смех. «Всё ещё жмёт эту кнопку».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Клик 1. «Такой кнопки нет. И проблема не в AI. Проблема в том, что мы ждём: нажал, и бизнес работает сам».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Клик 2. «AI — это не кнопка. Это новый сотрудник. Очень способный, очень быстрый, но ничего не знающий о вашем бизнесе».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Подавать как своё наблюдение, не как статистику.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5436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60 сек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Только картинка. «Я постоянно вижу одну и ту же историю: предприниматель подключает ChatGPT и неделю в восторге. А вот так он выглядит через месяц». Пауза, ждём смех. «Всё ещё жмёт эту кнопку».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Клик 1. «Такой кнопки нет. И проблема не в AI. Проблема в том, что мы ждём: нажал, и бизнес работает сам».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Клик 2. «AI — это не кнопка. Это новый сотрудник. Очень способный, очень быстрый, но ничего не знающий о вашем бизнесе».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Подавать как своё наблюдение, не как статистику.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7903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60 сек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Только картинка. «Я постоянно вижу одну и ту же историю: предприниматель подключает ChatGPT и неделю в восторге. А вот так он выглядит через месяц». Пауза, ждём смех. «Всё ещё жмёт эту кнопку».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Клик 1. «Такой кнопки нет. И проблема не в AI. Проблема в том, что мы ждём: нажал, и бизнес работает сам».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Клик 2. «AI — это не кнопка. Это новый сотрудник. Очень способный, очень быстрый, но ничего не знающий о вашем бизнесе».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Подавать как своё наблюдение, не как статистику.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3522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1c5b506339e50097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1c5b506339e50097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60 сек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Кивнуть на персонажа: «Вот наш кандидат. Сегодня проведём с ним собеседование».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Самопрезентация на 15 секунд: «Меня зовут …, я программист и предприниматель, каждый день работаю с </a:t>
            </a:r>
            <a:r>
              <a:rPr lang="ru-RU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Claude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в своём продукте и бизнесе. Сегодня расскажу не теорию, а то, что делал сам».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Обещание: «За 20 минут вы узнаете, какую задачу отдать AI первой, как объяснить ему работу и что конкретно сделать в понедельник».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Если спикера представляет ведущий, самопрезентацию сократить до одной фразы.</a:t>
            </a: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«Итак, мы нанимаем. Давайте посмотрим, какие вакансии AI уже сегодня закрывает хорошо».</a:t>
            </a: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86995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a3c89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a3c89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a3c89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a3c89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90 сек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Молдавский аргумент:</a:t>
            </a:r>
            <a:r>
              <a:rPr lang="ru-RU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«Клиент пишет на румынском, менеджер думает на русском. AI отвечает на обоих языках одинаково вежливо, в два часа ночи и в воскресенье».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Первичка:</a:t>
            </a:r>
            <a:r>
              <a:rPr lang="ru-RU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«Сфотографировали накладную, через 10 секунд она строкой в таблице».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Цена:</a:t>
            </a:r>
            <a:r>
              <a:rPr lang="ru-RU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«Каждая из этих вакансий закрывается по цене подписки, это меньше дневной зарплаты одного сотрудника в месяц». Перед выступлением проверить актуальные цены подписок.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«Но всех сразу не нанимают. Иначе получится как с офисом, куда в один день пришли 8 новичков: хаос».</a:t>
            </a:r>
          </a:p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Переход к блоку 3:</a:t>
            </a:r>
            <a:r>
              <a:rPr lang="ru-RU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«Как выбрать первую вакансию? У меня есть простой фильтр из трёх букв».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114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a3c89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a3c89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60 сек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**Повторяется.**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«Разовые задачи автоматизировать невыгодно: вы потратите больше времени на объяснение, чем на саму работу».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**Понятна.**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Главная фраза выступления, первое её появление: </a:t>
            </a:r>
            <a:r>
              <a:rPr lang="ru-RU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**«Если вы не можете объяснить задачу новичку за 5 минут, AI её тоже не сделает»**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 Если процесс живёт только в голове у Марины, сначала его надо описать.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**Поправима.**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«Первому сотруднику не доверяют кассу. Начинайте там, где ошибку легко заметить и исправить».</a:t>
            </a:r>
          </a:p>
        </p:txBody>
      </p:sp>
    </p:spTree>
    <p:extLst>
      <p:ext uri="{BB962C8B-B14F-4D97-AF65-F5344CB8AC3E}">
        <p14:creationId xmlns:p14="http://schemas.microsoft.com/office/powerpoint/2010/main" val="8859699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a3c89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a3c89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**Стратегия:**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«Её оставьте себе». Ждём смех.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**Договоры:**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«AI отлично находит в договоре подводные камни. Но ошибка дорогая, поэтому здесь он помощник юриста, а не замена. Не первая вакансия».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**Ответы клиентам:**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«Хороший кандидат, но клиент видит каждую ошибку. Лучше вторым или третьим, с контролем».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**Отчёт по продажам:**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«Скучно? Именно. Самый скучный процесс — лучший первый сотрудник».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Эту формулировку стоит сделать второй запоминающейся фразой выступления.</a:t>
            </a:r>
          </a:p>
        </p:txBody>
      </p:sp>
    </p:spTree>
    <p:extLst>
      <p:ext uri="{BB962C8B-B14F-4D97-AF65-F5344CB8AC3E}">
        <p14:creationId xmlns:p14="http://schemas.microsoft.com/office/powerpoint/2010/main" val="16102930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a3c89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a3c89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30 сек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Честная фраза: </a:t>
            </a:r>
            <a:r>
              <a:rPr lang="ru-RU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**«Задача реальная, я делал её для клиента. Данные смоделированы, чтобы не раскрывать чужие»**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«Три менеджера: Наталья, Ион и Андрей. Каждый ведёт свою таблицу. Каждый понедельник бухгалтер Марина берёт все три и 5 часов сводит их в отчёт».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«Прогоним через три П: повторяется, понятна, поправима. Нанимаем».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Марина — та самая «один человек, который понимает этот Excel» из хука.</a:t>
            </a:r>
          </a:p>
        </p:txBody>
      </p:sp>
    </p:spTree>
    <p:extLst>
      <p:ext uri="{BB962C8B-B14F-4D97-AF65-F5344CB8AC3E}">
        <p14:creationId xmlns:p14="http://schemas.microsoft.com/office/powerpoint/2010/main" val="14503221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a3c89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a3c89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90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Дать залу посмотреть и посмеяться. Не торопиться.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Рассказать про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GIT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«Кишинёв в этом файле записан 12 способами. Два вы глазами не отличите: в одном лишний пробел, в другом латинская K. А для компьютера это разные города».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«Ион пишет даты по-американски. 6/1/26 — это не 6 января, а 1 июня».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Телефоны в разных форматах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Один заказ 2 раза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3333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a3c89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a3c89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Второе появление ключевой фразы: </a:t>
            </a:r>
            <a:r>
              <a:rPr lang="ru-RU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**«Если вы не можете объяснить задачу новичку, AI её не сделает»**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 Эта инструкция и есть объяснение.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«Обратите внимание: здесь нет ни строчки кода. Это обычный текст, который вы написали бы для нового бухгалтера».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**Возврат к хуку:**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«В разделе „особенности менеджеров“ написано: Ион пишет даты по-американски. Раньше это знала только Марина. Теперь это знание на бумаге, и Excel перестал зависеть от одного человека».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Отдельно выделить пункт 3: «Не уверен — не выдумывай, а спроси». «Это самый важный пункт, через пару минут вы увидите почему».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В полном тексте инструкции этот пункт встречается трижды: сомнительные дубли, даты вроде «вчера» и курс евро. Если курса в сообщении нет, AI должен спросить, а не подставить свой.</a:t>
            </a:r>
          </a:p>
        </p:txBody>
      </p:sp>
    </p:spTree>
    <p:extLst>
      <p:ext uri="{BB962C8B-B14F-4D97-AF65-F5344CB8AC3E}">
        <p14:creationId xmlns:p14="http://schemas.microsoft.com/office/powerpoint/2010/main" val="13120033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a3c89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a3c89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«Кишинёв теперь записан одним способом, даты в одном формате, евро переведены в леи».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«8 строк оказались копиями. А 12 клиентов позвонили дважды и попали к разным менеджерам. Для отчёта это одна заявка, а не две».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«И самое важное: он сам проверил себя. Выручка совпала с банком до лея. Этого я требовал в инструкции».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Цифра из отчёта сотрудника, которая хорошо звучит со сцены: «Если бы копии остались, выручка вышла бы на 29 500 лей больше, чем в банке». Проверено по эталону: это две оплаченные сделки, вписанные дважды.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Для кадра: у сотрудника есть лист «Журнал», где для каждой склеенной строки указаны адрес и причина. Например: «</a:t>
            </a:r>
            <a:r>
              <a:rPr lang="ru-RU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Ion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стр. 77, </a:t>
            </a:r>
            <a:r>
              <a:rPr lang="ru-RU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Ion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Popescu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— тот же клиент, что в Наталья, стр. 91». Один такой крупный план убеждает лучше слов.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Если не использовали на 4.2: «Кстати, „Итого“ у Андрея завышало оплаты в два с лишним раза. Он складывал все предложения, а не оплаты».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«5 часов бухгалтера превратились в 5 минут». Пауза после «пять минут»: симметрия «5 часов → 5 минут» запоминается сама. «Это экономия времени. Приятно, но это ещё не главное».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Прогон шёл 5 минут. В записи ожидание ускорить до 20–30 секунд и сказать об этом вслух: «Реально он работал пять минут, я ускорил». Иначе кто-нибудь решит, что это заняло секунды, и разочаруется дома.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Цифру «5 часов» стоит сверить с опытом реального клиента: теперь на ней держится главный контраст слайда.</a:t>
            </a:r>
          </a:p>
        </p:txBody>
      </p:sp>
    </p:spTree>
    <p:extLst>
      <p:ext uri="{BB962C8B-B14F-4D97-AF65-F5344CB8AC3E}">
        <p14:creationId xmlns:p14="http://schemas.microsoft.com/office/powerpoint/2010/main" val="39228994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a3c89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a3c89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«Кишинёв теперь записан одним способом, даты в одном формате, евро переведены в леи».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«8 строк оказались копиями. А 12 клиентов позвонили дважды и попали к разным менеджерам. Для отчёта это одна заявка, а не две».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«И самое важное: он сам проверил себя. Выручка совпала с банком до лея. Этого я требовал в инструкции».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Цифра из отчёта сотрудника, которая хорошо звучит со сцены: «Если бы копии остались, выручка вышла бы на 29 500 лей больше, чем в банке». Проверено по эталону: это две оплаченные сделки, вписанные дважды.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Для кадра: у сотрудника есть лист «Журнал», где для каждой склеенной строки указаны адрес и причина. Например: «</a:t>
            </a:r>
            <a:r>
              <a:rPr lang="ru-RU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Ion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стр. 77, </a:t>
            </a:r>
            <a:r>
              <a:rPr lang="ru-RU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Ion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Popescu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— тот же клиент, что в Наталья, стр. 91». Один такой крупный план убеждает лучше слов.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Если не использовали на 4.2: «Кстати, „Итого“ у Андрея завышало оплаты в два с лишним раза. Он складывал все предложения, а не оплаты».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«5 часов бухгалтера превратились в 5 минут». Пауза после «пять минут»: симметрия «5 часов → 5 минут» запоминается сама. «Это экономия времени. Приятно, но это ещё не главное».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Прогон шёл 5 минут. В записи ожидание ускорить до 20–30 секунд и сказать об этом вслух: «Реально он работал пять минут, я ускорил». Иначе кто-нибудь решит, что это заняло секунды, и разочаруется дома.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Цифру «5 часов» стоит сверить с опытом реального клиента: теперь на ней держится главный контраст слайда.</a:t>
            </a:r>
          </a:p>
        </p:txBody>
      </p:sp>
    </p:spTree>
    <p:extLst>
      <p:ext uri="{BB962C8B-B14F-4D97-AF65-F5344CB8AC3E}">
        <p14:creationId xmlns:p14="http://schemas.microsoft.com/office/powerpoint/2010/main" val="9004145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a3c89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a3c89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1504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75035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Рассказать про ГИТ если будет время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Рассказать про Клод для Хром если </a:t>
            </a:r>
            <a:r>
              <a:rPr lang="ru-RU"/>
              <a:t>будет время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27816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a3c89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a3c89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90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Второе появление ключевой фразы: </a:t>
            </a:r>
            <a:r>
              <a:rPr lang="ru-RU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**«Если вы не можете объяснить задачу новичку, AI её не сделает»**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 Эта инструкция и есть объяснение.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«Обратите внимание: здесь нет ни строчки кода. Это обычный текст, который вы написали бы для нового бухгалтера».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**Возврат к хуку:**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«В разделе „особенности менеджеров“ написано: Ион пишет даты по-американски. Раньше это знала только Марина. Теперь это знание на бумаге, и Excel перестал зависеть от одного человека».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Отдельно выделить пункт 3: «Не уверен — не выдумывай, а спроси». «Это самый важный пункт, через пару минут вы увидите почему».</a:t>
            </a:r>
          </a:p>
          <a:p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В полном тексте инструкции этот пункт встречается трижды: сомнительные дубли, даты вроде «вчера» и курс евро. Если курса в сообщении нет, AI должен спросить, а не подставить свой.</a:t>
            </a:r>
          </a:p>
          <a:p>
            <a:endParaRPr lang="ru-RU" b="0" dirty="0">
              <a:solidFill>
                <a:srgbClr val="0451A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5098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4331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7B3ED-1C54-3B6C-4913-3EE538A685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E4AA94-53F4-D7E9-28E6-D7FD16067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2225F-F07C-699D-6396-A789C4495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58B6-3034-45C4-9FCC-22E14E205E9A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3293E-5C1F-D2F6-9F0D-CE4F4E7F1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2540-C104-B56C-562A-5F77A2FBE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7144031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8B96A-F494-1736-11BA-93C43CED6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08BA2-CB6E-0C90-15BC-F3FED2FBE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F43E2-5320-8217-CC7A-3BEAB5879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58B6-3034-45C4-9FCC-22E14E205E9A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A32B1-74FC-E7D2-6883-3389A1804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72C36-D91C-96E5-64FD-2BA07AF29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7934275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A282E-87A8-8344-4469-3BCDB5EC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81933-0103-89A9-4649-14B66C5F6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AD50A-0703-4C5C-CA87-75CA29E1C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58B6-3034-45C4-9FCC-22E14E205E9A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EC8B2-9420-EB3A-07AA-5FE39D1E6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A0C8F-4FE3-8902-95DA-E6F9C594E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951067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DDC3E-A1FD-58A0-1A28-B37E7D76D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7653A-0BBF-AD38-B19B-E9793A9812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9994F5-5681-6898-AD79-CA1364551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E3938-588E-8F49-B45A-19A3F6D8F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58B6-3034-45C4-9FCC-22E14E205E9A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211EB-A6D6-004C-1AB9-FE0D908A8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2FDD4-351E-56E8-DA7B-9C550506B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081809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D7989-A491-FD26-A9D4-38B7CC625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1CA3B-8B31-7061-2CD6-42D65B938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6E713-7B89-D3D5-E804-43F5D59FC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487067-E0D7-464F-7BBA-F8621E085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D97521-4185-8D34-2CD9-A8AFFECB5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555DC7-93B6-DE1B-6D9E-EC0BBD0CA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58B6-3034-45C4-9FCC-22E14E205E9A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4A1A52-7D91-0DAE-1A9B-E8EAB8452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3429C5-D4AE-9375-99DC-1393C3DF6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6002642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F071E-699E-5B0D-9FB3-B2884C0DE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B9DDF8-3A5B-AE5B-00BA-CBCD70B8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58B6-3034-45C4-9FCC-22E14E205E9A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1F7C3E-55AA-D4AD-A879-26A343258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A48BAE-A14C-F8B2-8BD8-B36B7CA4E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1590471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9F9F3-2ED2-93F4-04F6-D448ED9BC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58B6-3034-45C4-9FCC-22E14E205E9A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D57D3C-13E5-5BCC-4ED7-8503D7BED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EDC36-156A-0F58-9937-EB02820F7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71834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2A1DD-0E17-73B3-A02A-EB80A4E60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E1DF-1FEF-66AB-AD4A-2D8F5111B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36EAC-FB0F-C707-3436-FD207F3F8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1DDF5-F727-BD63-6220-28DED79F5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58B6-3034-45C4-9FCC-22E14E205E9A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9CB9A-B415-C268-6969-978016578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0B1D6-8F4A-D9A1-01C0-F7D917484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7279224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B4E0-686D-B6C6-A619-718149F19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AC1328-078A-54D9-2696-CB8D0E9571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3270C5-0199-7F64-4991-E657BFBDA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80A46-A6CE-D94E-A187-F72DCD803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58B6-3034-45C4-9FCC-22E14E205E9A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0242F-FFE7-FF0F-A4F3-6A406BBC0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33639-D890-B68A-C8D9-531AAF3CD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614878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FCC3-7791-7241-1525-A55D574E0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34FCCE-27F5-AB9B-F2D9-ECC387EA2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A8B2E-C28E-8501-40AF-6F89E759B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58B6-3034-45C4-9FCC-22E14E205E9A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1D418-E462-B55F-10B7-33822EC38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730E9-53D0-26DF-F920-B59698099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682229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719435-FFE3-394E-DED2-BBDDC25F56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BF545-6A83-4855-998F-C42DC02275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B0E3D-084C-4CC9-F465-95E28CBB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58B6-3034-45C4-9FCC-22E14E205E9A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54D6A-2221-C6E9-BA7C-1C1738F3F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B55BF-AF10-BAE8-46B8-26DD18553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797870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1914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790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E20E2F-9E8B-5671-22FD-8380F55B1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20DEF-BB05-A6B8-3264-15E5C3809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69190-89E4-7603-C911-6273877A4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B58B6-3034-45C4-9FCC-22E14E205E9A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C5C7D-5A8A-2497-6B1F-89804033E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3B936-BF61-6AC4-99D7-FB3C9467A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218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9D514F-7177-3128-98C7-95890E104D2D}"/>
              </a:ext>
            </a:extLst>
          </p:cNvPr>
          <p:cNvSpPr/>
          <p:nvPr/>
        </p:nvSpPr>
        <p:spPr>
          <a:xfrm>
            <a:off x="1876097" y="0"/>
            <a:ext cx="726790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2073165" y="651272"/>
            <a:ext cx="6858000" cy="17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  <a:latin typeface="Candara" panose="020E0502030303020204" pitchFamily="34" charset="0"/>
              </a:rPr>
              <a:t>АВТОМАТИЗАЦИЯ</a:t>
            </a:r>
            <a:endParaRPr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  <a:latin typeface="Candara" panose="020E0502030303020204" pitchFamily="34" charset="0"/>
              </a:rPr>
              <a:t>бизнес процессов c AI</a:t>
            </a:r>
            <a:endParaRPr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2073165" y="3279680"/>
            <a:ext cx="6858000" cy="12418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  <a:latin typeface="Candara" panose="020E0502030303020204" pitchFamily="34" charset="0"/>
              </a:rPr>
              <a:t>Богдан Велущак • </a:t>
            </a:r>
            <a:r>
              <a:rPr lang="en-US" dirty="0" err="1">
                <a:solidFill>
                  <a:schemeClr val="bg1"/>
                </a:solidFill>
                <a:latin typeface="Candara" panose="020E0502030303020204" pitchFamily="34" charset="0"/>
              </a:rPr>
              <a:t>Roitman</a:t>
            </a:r>
            <a:r>
              <a:rPr lang="en-US" dirty="0">
                <a:solidFill>
                  <a:schemeClr val="bg1"/>
                </a:solidFill>
                <a:latin typeface="Candara" panose="020E0502030303020204" pitchFamily="34" charset="0"/>
              </a:rPr>
              <a:t> Consulting                                    </a:t>
            </a:r>
            <a:r>
              <a:rPr lang="en" dirty="0">
                <a:solidFill>
                  <a:schemeClr val="bg1"/>
                </a:solidFill>
                <a:latin typeface="Candara" panose="020E0502030303020204" pitchFamily="34" charset="0"/>
              </a:rPr>
              <a:t>30.09.2026</a:t>
            </a:r>
            <a:endParaRPr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234813-92C1-4073-8D64-8D6139E6B569}"/>
              </a:ext>
            </a:extLst>
          </p:cNvPr>
          <p:cNvSpPr/>
          <p:nvPr/>
        </p:nvSpPr>
        <p:spPr>
          <a:xfrm>
            <a:off x="0" y="0"/>
            <a:ext cx="1815050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oogle Shape;79;p14" title="roitman_consulting_logo_1.png">
            <a:extLst>
              <a:ext uri="{FF2B5EF4-FFF2-40B4-BE49-F238E27FC236}">
                <a16:creationId xmlns:a16="http://schemas.microsoft.com/office/drawing/2014/main" id="{97ED1EBC-18C5-E788-2399-1ED49794D2F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51" y="100975"/>
            <a:ext cx="1069602" cy="62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240350" y="1032350"/>
            <a:ext cx="4045200" cy="36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ndara" panose="020E0502030303020204" pitchFamily="34" charset="0"/>
              </a:rPr>
              <a:t>Кто на этой неделе больше 5 раз</a:t>
            </a:r>
            <a:r>
              <a:rPr lang="ru-RU" dirty="0">
                <a:latin typeface="Candara" panose="020E0502030303020204" pitchFamily="34" charset="0"/>
              </a:rPr>
              <a:t> делал одно и то же</a:t>
            </a:r>
            <a:r>
              <a:rPr lang="en" dirty="0">
                <a:latin typeface="Candara" panose="020E0502030303020204" pitchFamily="34" charset="0"/>
              </a:rPr>
              <a:t>?</a:t>
            </a:r>
            <a:endParaRPr dirty="0">
              <a:latin typeface="Candara" panose="020E0502030303020204" pitchFamily="34" charset="0"/>
            </a:endParaRPr>
          </a:p>
        </p:txBody>
      </p:sp>
      <p:pic>
        <p:nvPicPr>
          <p:cNvPr id="79" name="Google Shape;79;p14" title="roitman_consulting_logo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51" y="100975"/>
            <a:ext cx="1069602" cy="62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 title="1.1 Сколько стоит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5550" y="0"/>
            <a:ext cx="48584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40350" y="1032350"/>
            <a:ext cx="3949800" cy="36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ndara" panose="020E0502030303020204" pitchFamily="34" charset="0"/>
              </a:rPr>
              <a:t>А у кого есть Excel, который понимает только один человек в компании?</a:t>
            </a:r>
            <a:endParaRPr dirty="0">
              <a:latin typeface="Candara" panose="020E0502030303020204" pitchFamily="34" charset="0"/>
            </a:endParaRPr>
          </a:p>
        </p:txBody>
      </p:sp>
      <p:pic>
        <p:nvPicPr>
          <p:cNvPr id="86" name="Google Shape;86;p15" title="roitman_consulting_logo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51" y="100975"/>
            <a:ext cx="1069602" cy="62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 title="1.2. Один человек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1942" y="0"/>
            <a:ext cx="48137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234813-92C1-4073-8D64-8D6139E6B569}"/>
              </a:ext>
            </a:extLst>
          </p:cNvPr>
          <p:cNvSpPr/>
          <p:nvPr/>
        </p:nvSpPr>
        <p:spPr>
          <a:xfrm>
            <a:off x="4661377" y="0"/>
            <a:ext cx="4482635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oogle Shape;79;p14" title="roitman_consulting_logo_1.png">
            <a:extLst>
              <a:ext uri="{FF2B5EF4-FFF2-40B4-BE49-F238E27FC236}">
                <a16:creationId xmlns:a16="http://schemas.microsoft.com/office/drawing/2014/main" id="{97ED1EBC-18C5-E788-2399-1ED49794D2F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8178" y="100975"/>
            <a:ext cx="1069602" cy="62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285077-6C35-BF3B-4A11-0F3B91D33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" y="0"/>
            <a:ext cx="5143500" cy="5143500"/>
          </a:xfrm>
          <a:prstGeom prst="rect">
            <a:avLst/>
          </a:prstGeom>
        </p:spPr>
      </p:pic>
      <p:sp>
        <p:nvSpPr>
          <p:cNvPr id="10" name="Google Shape;85;p15">
            <a:extLst>
              <a:ext uri="{FF2B5EF4-FFF2-40B4-BE49-F238E27FC236}">
                <a16:creationId xmlns:a16="http://schemas.microsoft.com/office/drawing/2014/main" id="{0D8C6730-115E-72CA-3239-19CED7D148C7}"/>
              </a:ext>
            </a:extLst>
          </p:cNvPr>
          <p:cNvSpPr txBox="1">
            <a:spLocks/>
          </p:cNvSpPr>
          <p:nvPr/>
        </p:nvSpPr>
        <p:spPr>
          <a:xfrm>
            <a:off x="5258877" y="791929"/>
            <a:ext cx="3766451" cy="201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4000" b="0" dirty="0">
                <a:solidFill>
                  <a:schemeClr val="tx1"/>
                </a:solidFill>
                <a:latin typeface="Candara" panose="020E0502030303020204" pitchFamily="34" charset="0"/>
              </a:rPr>
              <a:t>ChatGPT, </a:t>
            </a:r>
            <a:r>
              <a:rPr lang="ru-RU" sz="4000" b="0" dirty="0">
                <a:solidFill>
                  <a:schemeClr val="tx1"/>
                </a:solidFill>
                <a:latin typeface="Candara" panose="020E0502030303020204" pitchFamily="34" charset="0"/>
              </a:rPr>
              <a:t>вот тебе файлы, сделай все хорошо</a:t>
            </a:r>
          </a:p>
        </p:txBody>
      </p:sp>
      <p:sp>
        <p:nvSpPr>
          <p:cNvPr id="12" name="Google Shape;85;p15">
            <a:extLst>
              <a:ext uri="{FF2B5EF4-FFF2-40B4-BE49-F238E27FC236}">
                <a16:creationId xmlns:a16="http://schemas.microsoft.com/office/drawing/2014/main" id="{1F3187D5-3000-BDC1-012D-CA3AB171BF67}"/>
              </a:ext>
            </a:extLst>
          </p:cNvPr>
          <p:cNvSpPr txBox="1">
            <a:spLocks/>
          </p:cNvSpPr>
          <p:nvPr/>
        </p:nvSpPr>
        <p:spPr>
          <a:xfrm>
            <a:off x="5271329" y="1647774"/>
            <a:ext cx="3766451" cy="201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 sz="4000" b="0" dirty="0">
                <a:solidFill>
                  <a:schemeClr val="tx1"/>
                </a:solidFill>
                <a:latin typeface="Candara" panose="020E0502030303020204" pitchFamily="34" charset="0"/>
              </a:rPr>
              <a:t>Такой кнопки у </a:t>
            </a:r>
            <a:r>
              <a:rPr lang="en-US" sz="4000" b="0" dirty="0">
                <a:solidFill>
                  <a:schemeClr val="tx1"/>
                </a:solidFill>
                <a:latin typeface="Candara" panose="020E0502030303020204" pitchFamily="34" charset="0"/>
              </a:rPr>
              <a:t>AI </a:t>
            </a:r>
            <a:r>
              <a:rPr lang="ru-RU" sz="4000" b="0" dirty="0">
                <a:solidFill>
                  <a:schemeClr val="tx1"/>
                </a:solidFill>
                <a:latin typeface="Candara" panose="020E0502030303020204" pitchFamily="34" charset="0"/>
              </a:rPr>
              <a:t>нет</a:t>
            </a:r>
          </a:p>
        </p:txBody>
      </p:sp>
      <p:sp>
        <p:nvSpPr>
          <p:cNvPr id="13" name="Google Shape;85;p15">
            <a:extLst>
              <a:ext uri="{FF2B5EF4-FFF2-40B4-BE49-F238E27FC236}">
                <a16:creationId xmlns:a16="http://schemas.microsoft.com/office/drawing/2014/main" id="{59CDC30D-B95A-02F4-3FB7-4EF2B19B1BCE}"/>
              </a:ext>
            </a:extLst>
          </p:cNvPr>
          <p:cNvSpPr txBox="1">
            <a:spLocks/>
          </p:cNvSpPr>
          <p:nvPr/>
        </p:nvSpPr>
        <p:spPr>
          <a:xfrm>
            <a:off x="5283781" y="2072434"/>
            <a:ext cx="3766451" cy="201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4000" b="0" dirty="0">
                <a:solidFill>
                  <a:schemeClr val="tx1"/>
                </a:solidFill>
                <a:latin typeface="Candara" panose="020E0502030303020204" pitchFamily="34" charset="0"/>
              </a:rPr>
              <a:t>AI – </a:t>
            </a:r>
            <a:r>
              <a:rPr lang="ru-RU" sz="4000" b="0" dirty="0">
                <a:solidFill>
                  <a:schemeClr val="tx1"/>
                </a:solidFill>
                <a:latin typeface="Candara" panose="020E0502030303020204" pitchFamily="34" charset="0"/>
              </a:rPr>
              <a:t>не кнопка</a:t>
            </a:r>
            <a:br>
              <a:rPr lang="ru-RU" sz="4000" b="0" dirty="0">
                <a:solidFill>
                  <a:schemeClr val="tx1"/>
                </a:solidFill>
                <a:latin typeface="Candara" panose="020E0502030303020204" pitchFamily="34" charset="0"/>
              </a:rPr>
            </a:br>
            <a:r>
              <a:rPr lang="ru-RU" sz="4000" b="0" dirty="0">
                <a:solidFill>
                  <a:schemeClr val="tx1"/>
                </a:solidFill>
                <a:latin typeface="Candara" panose="020E0502030303020204" pitchFamily="34" charset="0"/>
              </a:rPr>
              <a:t>Это сотрудник</a:t>
            </a:r>
          </a:p>
        </p:txBody>
      </p:sp>
    </p:spTree>
    <p:extLst>
      <p:ext uri="{BB962C8B-B14F-4D97-AF65-F5344CB8AC3E}">
        <p14:creationId xmlns:p14="http://schemas.microsoft.com/office/powerpoint/2010/main" val="305626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2" grpId="1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79;p14" title="roitman_consulting_logo_1.png">
            <a:extLst>
              <a:ext uri="{FF2B5EF4-FFF2-40B4-BE49-F238E27FC236}">
                <a16:creationId xmlns:a16="http://schemas.microsoft.com/office/drawing/2014/main" id="{97ED1EBC-18C5-E788-2399-1ED49794D2F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8178" y="100975"/>
            <a:ext cx="1069602" cy="62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285077-6C35-BF3B-4A11-0F3B91D33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" y="0"/>
            <a:ext cx="5143500" cy="5143500"/>
          </a:xfrm>
          <a:prstGeom prst="rect">
            <a:avLst/>
          </a:prstGeom>
        </p:spPr>
      </p:pic>
      <p:sp>
        <p:nvSpPr>
          <p:cNvPr id="10" name="Google Shape;85;p15">
            <a:extLst>
              <a:ext uri="{FF2B5EF4-FFF2-40B4-BE49-F238E27FC236}">
                <a16:creationId xmlns:a16="http://schemas.microsoft.com/office/drawing/2014/main" id="{0D8C6730-115E-72CA-3239-19CED7D148C7}"/>
              </a:ext>
            </a:extLst>
          </p:cNvPr>
          <p:cNvSpPr txBox="1">
            <a:spLocks/>
          </p:cNvSpPr>
          <p:nvPr/>
        </p:nvSpPr>
        <p:spPr>
          <a:xfrm>
            <a:off x="5258877" y="791929"/>
            <a:ext cx="3766451" cy="201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4000" b="0" dirty="0">
                <a:solidFill>
                  <a:schemeClr val="tx1"/>
                </a:solidFill>
                <a:latin typeface="Candara" panose="020E0502030303020204" pitchFamily="34" charset="0"/>
              </a:rPr>
              <a:t>ChatGPT, </a:t>
            </a:r>
            <a:r>
              <a:rPr lang="ru-RU" sz="4000" b="0" dirty="0">
                <a:solidFill>
                  <a:schemeClr val="tx1"/>
                </a:solidFill>
                <a:latin typeface="Candara" panose="020E0502030303020204" pitchFamily="34" charset="0"/>
              </a:rPr>
              <a:t>вот тебе файлы, сделай все хорошо</a:t>
            </a:r>
          </a:p>
        </p:txBody>
      </p:sp>
    </p:spTree>
    <p:extLst>
      <p:ext uri="{BB962C8B-B14F-4D97-AF65-F5344CB8AC3E}">
        <p14:creationId xmlns:p14="http://schemas.microsoft.com/office/powerpoint/2010/main" val="262988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234813-92C1-4073-8D64-8D6139E6B569}"/>
              </a:ext>
            </a:extLst>
          </p:cNvPr>
          <p:cNvSpPr/>
          <p:nvPr/>
        </p:nvSpPr>
        <p:spPr>
          <a:xfrm>
            <a:off x="4661377" y="0"/>
            <a:ext cx="4482635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oogle Shape;79;p14" title="roitman_consulting_logo_1.png">
            <a:extLst>
              <a:ext uri="{FF2B5EF4-FFF2-40B4-BE49-F238E27FC236}">
                <a16:creationId xmlns:a16="http://schemas.microsoft.com/office/drawing/2014/main" id="{97ED1EBC-18C5-E788-2399-1ED49794D2F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8178" y="100975"/>
            <a:ext cx="1069602" cy="62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285077-6C35-BF3B-4A11-0F3B91D33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" y="0"/>
            <a:ext cx="5143500" cy="5143500"/>
          </a:xfrm>
          <a:prstGeom prst="rect">
            <a:avLst/>
          </a:prstGeom>
        </p:spPr>
      </p:pic>
      <p:sp>
        <p:nvSpPr>
          <p:cNvPr id="12" name="Google Shape;85;p15">
            <a:extLst>
              <a:ext uri="{FF2B5EF4-FFF2-40B4-BE49-F238E27FC236}">
                <a16:creationId xmlns:a16="http://schemas.microsoft.com/office/drawing/2014/main" id="{1F3187D5-3000-BDC1-012D-CA3AB171BF67}"/>
              </a:ext>
            </a:extLst>
          </p:cNvPr>
          <p:cNvSpPr txBox="1">
            <a:spLocks/>
          </p:cNvSpPr>
          <p:nvPr/>
        </p:nvSpPr>
        <p:spPr>
          <a:xfrm>
            <a:off x="5271329" y="1647774"/>
            <a:ext cx="3766451" cy="201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 sz="4000" b="0" dirty="0">
                <a:solidFill>
                  <a:schemeClr val="tx1"/>
                </a:solidFill>
                <a:latin typeface="Candara" panose="020E0502030303020204" pitchFamily="34" charset="0"/>
              </a:rPr>
              <a:t>Такой кнопки у </a:t>
            </a:r>
            <a:r>
              <a:rPr lang="en-US" sz="4000" b="0" dirty="0">
                <a:solidFill>
                  <a:schemeClr val="tx1"/>
                </a:solidFill>
                <a:latin typeface="Candara" panose="020E0502030303020204" pitchFamily="34" charset="0"/>
              </a:rPr>
              <a:t>AI </a:t>
            </a:r>
            <a:r>
              <a:rPr lang="ru-RU" sz="4000" b="0" dirty="0">
                <a:solidFill>
                  <a:schemeClr val="tx1"/>
                </a:solidFill>
                <a:latin typeface="Candara" panose="020E0502030303020204" pitchFamily="34" charset="0"/>
              </a:rPr>
              <a:t>нет</a:t>
            </a:r>
          </a:p>
        </p:txBody>
      </p:sp>
    </p:spTree>
    <p:extLst>
      <p:ext uri="{BB962C8B-B14F-4D97-AF65-F5344CB8AC3E}">
        <p14:creationId xmlns:p14="http://schemas.microsoft.com/office/powerpoint/2010/main" val="108951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234813-92C1-4073-8D64-8D6139E6B569}"/>
              </a:ext>
            </a:extLst>
          </p:cNvPr>
          <p:cNvSpPr/>
          <p:nvPr/>
        </p:nvSpPr>
        <p:spPr>
          <a:xfrm>
            <a:off x="4661377" y="0"/>
            <a:ext cx="4482635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oogle Shape;79;p14" title="roitman_consulting_logo_1.png">
            <a:extLst>
              <a:ext uri="{FF2B5EF4-FFF2-40B4-BE49-F238E27FC236}">
                <a16:creationId xmlns:a16="http://schemas.microsoft.com/office/drawing/2014/main" id="{97ED1EBC-18C5-E788-2399-1ED49794D2F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8178" y="100975"/>
            <a:ext cx="1069602" cy="62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285077-6C35-BF3B-4A11-0F3B91D33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" y="0"/>
            <a:ext cx="5143500" cy="5143500"/>
          </a:xfrm>
          <a:prstGeom prst="rect">
            <a:avLst/>
          </a:prstGeom>
        </p:spPr>
      </p:pic>
      <p:sp>
        <p:nvSpPr>
          <p:cNvPr id="13" name="Google Shape;85;p15">
            <a:extLst>
              <a:ext uri="{FF2B5EF4-FFF2-40B4-BE49-F238E27FC236}">
                <a16:creationId xmlns:a16="http://schemas.microsoft.com/office/drawing/2014/main" id="{59CDC30D-B95A-02F4-3FB7-4EF2B19B1BCE}"/>
              </a:ext>
            </a:extLst>
          </p:cNvPr>
          <p:cNvSpPr txBox="1">
            <a:spLocks/>
          </p:cNvSpPr>
          <p:nvPr/>
        </p:nvSpPr>
        <p:spPr>
          <a:xfrm>
            <a:off x="5283781" y="2072434"/>
            <a:ext cx="3766451" cy="201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1" i="0" u="none" strike="noStrike" cap="none" spc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4000" b="0" dirty="0">
                <a:solidFill>
                  <a:schemeClr val="tx1"/>
                </a:solidFill>
                <a:latin typeface="Candara" panose="020E0502030303020204" pitchFamily="34" charset="0"/>
              </a:rPr>
              <a:t>AI – </a:t>
            </a:r>
            <a:r>
              <a:rPr lang="ru-RU" sz="4000" b="0" dirty="0">
                <a:solidFill>
                  <a:schemeClr val="tx1"/>
                </a:solidFill>
                <a:latin typeface="Candara" panose="020E0502030303020204" pitchFamily="34" charset="0"/>
              </a:rPr>
              <a:t>не кнопка</a:t>
            </a:r>
            <a:br>
              <a:rPr lang="ru-RU" sz="4000" b="0" dirty="0">
                <a:solidFill>
                  <a:schemeClr val="tx1"/>
                </a:solidFill>
                <a:latin typeface="Candara" panose="020E0502030303020204" pitchFamily="34" charset="0"/>
              </a:rPr>
            </a:br>
            <a:r>
              <a:rPr lang="ru-RU" sz="4000" b="0" dirty="0">
                <a:solidFill>
                  <a:schemeClr val="tx1"/>
                </a:solidFill>
                <a:latin typeface="Candara" panose="020E0502030303020204" pitchFamily="34" charset="0"/>
              </a:rPr>
              <a:t>Это сотрудник</a:t>
            </a:r>
          </a:p>
        </p:txBody>
      </p:sp>
    </p:spTree>
    <p:extLst>
      <p:ext uri="{BB962C8B-B14F-4D97-AF65-F5344CB8AC3E}">
        <p14:creationId xmlns:p14="http://schemas.microsoft.com/office/powerpoint/2010/main" val="251969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75451" y="906515"/>
            <a:ext cx="4429437" cy="9055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sz="2800" dirty="0">
                <a:latin typeface="Candara" panose="020E0502030303020204" pitchFamily="34" charset="0"/>
              </a:rPr>
              <a:t>Сегодня наймем первого </a:t>
            </a:r>
            <a:br>
              <a:rPr lang="ru-RU" sz="2800" dirty="0">
                <a:latin typeface="Candara" panose="020E0502030303020204" pitchFamily="34" charset="0"/>
              </a:rPr>
            </a:br>
            <a:r>
              <a:rPr lang="ro-MD" sz="2800" dirty="0">
                <a:latin typeface="Candara" panose="020E0502030303020204" pitchFamily="34" charset="0"/>
              </a:rPr>
              <a:t>AI</a:t>
            </a:r>
            <a:r>
              <a:rPr lang="ru-RU" sz="2800" dirty="0">
                <a:latin typeface="Candara" panose="020E0502030303020204" pitchFamily="34" charset="0"/>
              </a:rPr>
              <a:t>-работника</a:t>
            </a:r>
            <a:br>
              <a:rPr lang="ru-RU" sz="2800" dirty="0">
                <a:latin typeface="Candara" panose="020E0502030303020204" pitchFamily="34" charset="0"/>
              </a:rPr>
            </a:br>
            <a:endParaRPr sz="2800" dirty="0">
              <a:latin typeface="Candara" panose="020E0502030303020204" pitchFamily="34" charset="0"/>
            </a:endParaRPr>
          </a:p>
        </p:txBody>
      </p:sp>
      <p:pic>
        <p:nvPicPr>
          <p:cNvPr id="86" name="Google Shape;86;p15" title="roitman_consulting_logo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51" y="100975"/>
            <a:ext cx="1069602" cy="62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FEDA34-FAE5-D300-526C-770D4C1B2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776" y="0"/>
            <a:ext cx="4820002" cy="5143500"/>
          </a:xfrm>
          <a:prstGeom prst="rect">
            <a:avLst/>
          </a:prstGeom>
        </p:spPr>
      </p:pic>
      <p:sp>
        <p:nvSpPr>
          <p:cNvPr id="4" name="Google Shape;85;p15">
            <a:extLst>
              <a:ext uri="{FF2B5EF4-FFF2-40B4-BE49-F238E27FC236}">
                <a16:creationId xmlns:a16="http://schemas.microsoft.com/office/drawing/2014/main" id="{647CB549-CCA3-0DAB-2DF4-F7D21B7D576D}"/>
              </a:ext>
            </a:extLst>
          </p:cNvPr>
          <p:cNvSpPr txBox="1">
            <a:spLocks/>
          </p:cNvSpPr>
          <p:nvPr/>
        </p:nvSpPr>
        <p:spPr>
          <a:xfrm>
            <a:off x="75451" y="1872648"/>
            <a:ext cx="4429437" cy="3085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b="0" dirty="0">
                <a:latin typeface="Candara" panose="020E0502030303020204" pitchFamily="34" charset="0"/>
              </a:rPr>
              <a:t>Какую вакансию закрыть первой?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b="0" dirty="0">
                <a:latin typeface="Candara" panose="020E0502030303020204" pitchFamily="34" charset="0"/>
              </a:rPr>
              <a:t>Как написать должностную инструкцию?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b="0" dirty="0">
                <a:latin typeface="Candara" panose="020E0502030303020204" pitchFamily="34" charset="0"/>
              </a:rPr>
              <a:t>Что делать в следующий понедельник?</a:t>
            </a:r>
            <a:br>
              <a:rPr lang="ru-RU" sz="2400" b="0" dirty="0">
                <a:latin typeface="Candara" panose="020E0502030303020204" pitchFamily="34" charset="0"/>
              </a:rPr>
            </a:br>
            <a:endParaRPr lang="ru-RU" sz="2400" b="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90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2870616" y="0"/>
            <a:ext cx="6273384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accent2"/>
                </a:solidFill>
                <a:latin typeface="Candara" panose="020E0502030303020204" pitchFamily="34" charset="0"/>
              </a:rPr>
              <a:t>Познакомимся поближе</a:t>
            </a:r>
            <a:endParaRPr b="1" dirty="0">
              <a:solidFill>
                <a:schemeClr val="accent2"/>
              </a:solidFill>
              <a:latin typeface="Candara" panose="020E0502030303020204" pitchFamily="34" charset="0"/>
            </a:endParaRPr>
          </a:p>
        </p:txBody>
      </p:sp>
      <p:pic>
        <p:nvPicPr>
          <p:cNvPr id="2" name="Google Shape;86;p15" title="roitman_consulting_logo_1.png">
            <a:extLst>
              <a:ext uri="{FF2B5EF4-FFF2-40B4-BE49-F238E27FC236}">
                <a16:creationId xmlns:a16="http://schemas.microsoft.com/office/drawing/2014/main" id="{F79A687A-6D21-3BF7-E855-E50B6687C2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51" y="100975"/>
            <a:ext cx="1069602" cy="62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0923F9-9DF1-A907-A56B-7E598BB9F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2" y="1211349"/>
            <a:ext cx="2426642" cy="3076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2667DD-F9BB-2250-E658-94467ACA1A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0577" y="674558"/>
            <a:ext cx="5958590" cy="44689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2550026" y="363116"/>
            <a:ext cx="6581731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i="0" dirty="0">
                <a:solidFill>
                  <a:schemeClr val="accent2"/>
                </a:solidFill>
                <a:effectLst/>
                <a:latin typeface="Candara" panose="020E0502030303020204" pitchFamily="34" charset="0"/>
              </a:rPr>
              <a:t>Идеи </a:t>
            </a:r>
            <a:r>
              <a:rPr lang="ru-RU" b="1" dirty="0">
                <a:solidFill>
                  <a:schemeClr val="accent2"/>
                </a:solidFill>
                <a:latin typeface="Candara" panose="020E0502030303020204" pitchFamily="34" charset="0"/>
              </a:rPr>
              <a:t>в</a:t>
            </a:r>
            <a:r>
              <a:rPr lang="ru-RU" b="1" i="0" dirty="0">
                <a:solidFill>
                  <a:schemeClr val="accent2"/>
                </a:solidFill>
                <a:effectLst/>
                <a:latin typeface="Candara" panose="020E0502030303020204" pitchFamily="34" charset="0"/>
              </a:rPr>
              <a:t>акансий для AI-сотрудника</a:t>
            </a:r>
            <a:endParaRPr b="1" dirty="0">
              <a:solidFill>
                <a:schemeClr val="accent2"/>
              </a:solidFill>
              <a:latin typeface="Candara" panose="020E0502030303020204" pitchFamily="34" charset="0"/>
            </a:endParaRPr>
          </a:p>
        </p:txBody>
      </p:sp>
      <p:pic>
        <p:nvPicPr>
          <p:cNvPr id="2" name="Google Shape;86;p15" title="roitman_consulting_logo_1.png">
            <a:extLst>
              <a:ext uri="{FF2B5EF4-FFF2-40B4-BE49-F238E27FC236}">
                <a16:creationId xmlns:a16="http://schemas.microsoft.com/office/drawing/2014/main" id="{F79A687A-6D21-3BF7-E855-E50B6687C2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51" y="100975"/>
            <a:ext cx="1069602" cy="6232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86F8ADC-65B4-1145-25BF-65C1C1FE8322}"/>
              </a:ext>
            </a:extLst>
          </p:cNvPr>
          <p:cNvGraphicFramePr>
            <a:graphicFrameLocks noGrp="1"/>
          </p:cNvGraphicFramePr>
          <p:nvPr/>
        </p:nvGraphicFramePr>
        <p:xfrm>
          <a:off x="2603937" y="1211350"/>
          <a:ext cx="6378044" cy="31242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573925">
                  <a:extLst>
                    <a:ext uri="{9D8B030D-6E8A-4147-A177-3AD203B41FA5}">
                      <a16:colId xmlns:a16="http://schemas.microsoft.com/office/drawing/2014/main" val="1102835258"/>
                    </a:ext>
                  </a:extLst>
                </a:gridCol>
                <a:gridCol w="4804119">
                  <a:extLst>
                    <a:ext uri="{9D8B030D-6E8A-4147-A177-3AD203B41FA5}">
                      <a16:colId xmlns:a16="http://schemas.microsoft.com/office/drawing/2014/main" val="2270534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Candara" panose="020E0502030303020204" pitchFamily="34" charset="0"/>
                        </a:rPr>
                        <a:t>Вакансия</a:t>
                      </a:r>
                      <a:endParaRPr lang="en-US" sz="18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Candara" panose="020E0502030303020204" pitchFamily="34" charset="0"/>
                        </a:rPr>
                        <a:t>Чем занимается</a:t>
                      </a:r>
                      <a:endParaRPr lang="en-US" sz="18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886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Candara" panose="020E0502030303020204" pitchFamily="34" charset="0"/>
                        </a:rPr>
                        <a:t>Менеджер по клиентам</a:t>
                      </a:r>
                      <a:endParaRPr lang="en-US" b="1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Отвечает на типовые вопросы в Telegram, </a:t>
                      </a:r>
                      <a:r>
                        <a:rPr lang="ru-RU" sz="1350" b="0" i="0" kern="1200" dirty="0" err="1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Viber</a:t>
                      </a:r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, Instagram, на румынском и русском</a:t>
                      </a:r>
                      <a:endParaRPr lang="en-US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909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350" b="1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Оператор заявок</a:t>
                      </a:r>
                      <a:endParaRPr lang="en-US" b="1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Разбирает входящие заявки и заносит их в таблицу или CRM</a:t>
                      </a:r>
                      <a:endParaRPr lang="en-US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836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350" b="1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Составитель документов</a:t>
                      </a:r>
                      <a:endParaRPr lang="en-US" b="1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Готовит Коммерческие Предложения, счета и договоры по шаблону</a:t>
                      </a:r>
                      <a:endParaRPr lang="en-US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89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350" b="1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Оператор первички</a:t>
                      </a:r>
                      <a:endParaRPr lang="en-US" b="1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Фото накладной или счёта превращает в строку таблицы</a:t>
                      </a:r>
                      <a:endParaRPr lang="en-US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925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Candara" panose="020E0502030303020204" pitchFamily="34" charset="0"/>
                        </a:rPr>
                        <a:t>Аналитик</a:t>
                      </a:r>
                      <a:endParaRPr lang="en-US" b="1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Сводит данные и готовит еженедельный отчёт</a:t>
                      </a:r>
                      <a:endParaRPr lang="en-US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365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Candara" panose="020E0502030303020204" pitchFamily="34" charset="0"/>
                        </a:rPr>
                        <a:t>Менеджер по объявлениям</a:t>
                      </a:r>
                      <a:endParaRPr lang="en-US" b="1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Ищет нужное (помещения, технику, работу) в объявлениях типа 999.</a:t>
                      </a:r>
                      <a:r>
                        <a:rPr lang="en-US" sz="1350" b="0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md</a:t>
                      </a:r>
                      <a:endParaRPr lang="en-US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075140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70923F9-9DF1-A907-A56B-7E598BB9F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2" y="1211349"/>
            <a:ext cx="2426642" cy="307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415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79186" y="315818"/>
            <a:ext cx="6581731" cy="9541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accent2"/>
                </a:solidFill>
                <a:latin typeface="Candara" panose="020E0502030303020204" pitchFamily="34" charset="0"/>
              </a:rPr>
              <a:t>Выбираем первого работника</a:t>
            </a:r>
            <a:br>
              <a:rPr lang="ru-RU" b="1" dirty="0">
                <a:solidFill>
                  <a:schemeClr val="accent2"/>
                </a:solidFill>
                <a:latin typeface="Candara" panose="020E0502030303020204" pitchFamily="34" charset="0"/>
              </a:rPr>
            </a:br>
            <a:r>
              <a:rPr lang="ru-RU" b="1" dirty="0">
                <a:solidFill>
                  <a:schemeClr val="accent2"/>
                </a:solidFill>
                <a:latin typeface="Candara" panose="020E0502030303020204" pitchFamily="34" charset="0"/>
              </a:rPr>
              <a:t>Правило «3П»</a:t>
            </a:r>
            <a:endParaRPr b="1" dirty="0">
              <a:solidFill>
                <a:schemeClr val="accent2"/>
              </a:solidFill>
              <a:latin typeface="Candara" panose="020E0502030303020204" pitchFamily="34" charset="0"/>
            </a:endParaRPr>
          </a:p>
        </p:txBody>
      </p:sp>
      <p:pic>
        <p:nvPicPr>
          <p:cNvPr id="2" name="Google Shape;86;p15" title="roitman_consulting_logo_1.png">
            <a:extLst>
              <a:ext uri="{FF2B5EF4-FFF2-40B4-BE49-F238E27FC236}">
                <a16:creationId xmlns:a16="http://schemas.microsoft.com/office/drawing/2014/main" id="{F79A687A-6D21-3BF7-E855-E50B6687C2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5506" y="79335"/>
            <a:ext cx="1069602" cy="62322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0CFDBF-C7CA-7581-F13E-8E572EB4C428}"/>
              </a:ext>
            </a:extLst>
          </p:cNvPr>
          <p:cNvSpPr txBox="1"/>
          <p:nvPr/>
        </p:nvSpPr>
        <p:spPr>
          <a:xfrm>
            <a:off x="94579" y="1395248"/>
            <a:ext cx="642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Candara" panose="020E0502030303020204" pitchFamily="34" charset="0"/>
              </a:rPr>
              <a:t>Хорошая кандидатура – та, которая:</a:t>
            </a:r>
            <a:br>
              <a:rPr lang="ru-RU" sz="2800" dirty="0">
                <a:latin typeface="Candara" panose="020E0502030303020204" pitchFamily="34" charset="0"/>
              </a:rPr>
            </a:br>
            <a:endParaRPr lang="en-US" sz="2800" dirty="0">
              <a:latin typeface="Candara" panose="020E05020303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BD151A-6392-2893-0E5C-C0B337006AF9}"/>
              </a:ext>
            </a:extLst>
          </p:cNvPr>
          <p:cNvSpPr txBox="1"/>
          <p:nvPr/>
        </p:nvSpPr>
        <p:spPr>
          <a:xfrm>
            <a:off x="94579" y="2004179"/>
            <a:ext cx="61406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b="1" dirty="0">
                <a:latin typeface="Candara" panose="020E0502030303020204" pitchFamily="34" charset="0"/>
              </a:rPr>
              <a:t>Повторяется</a:t>
            </a:r>
            <a:r>
              <a:rPr lang="ru-RU" sz="2200" dirty="0">
                <a:latin typeface="Candara" panose="020E0502030303020204" pitchFamily="34" charset="0"/>
              </a:rPr>
              <a:t>: каждый день или каждую неделю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200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b="1" dirty="0">
                <a:latin typeface="Candara" panose="020E0502030303020204" pitchFamily="34" charset="0"/>
              </a:rPr>
              <a:t>Понятна</a:t>
            </a:r>
            <a:r>
              <a:rPr lang="ru-RU" sz="2200" dirty="0">
                <a:latin typeface="Candara" panose="020E0502030303020204" pitchFamily="34" charset="0"/>
              </a:rPr>
              <a:t>: можно объяснить новичку за 5 минут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200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b="1" dirty="0">
                <a:latin typeface="Candara" panose="020E0502030303020204" pitchFamily="34" charset="0"/>
              </a:rPr>
              <a:t>Поправима</a:t>
            </a:r>
            <a:r>
              <a:rPr lang="ru-RU" sz="2200" dirty="0">
                <a:latin typeface="Candara" panose="020E0502030303020204" pitchFamily="34" charset="0"/>
              </a:rPr>
              <a:t>: ошибка не приведет к катастрофе</a:t>
            </a:r>
            <a:br>
              <a:rPr lang="ru-RU" sz="2200" dirty="0">
                <a:latin typeface="Candara" panose="020E0502030303020204" pitchFamily="34" charset="0"/>
              </a:rPr>
            </a:br>
            <a:endParaRPr lang="en-US" sz="2200" dirty="0">
              <a:latin typeface="Candara" panose="020E05020303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994A70-4287-2E47-239F-D6D6B1AF9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806" y="1206062"/>
            <a:ext cx="3043615" cy="385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32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1852985" y="457917"/>
            <a:ext cx="6581731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i="0" dirty="0">
                <a:solidFill>
                  <a:schemeClr val="accent2"/>
                </a:solidFill>
                <a:effectLst/>
                <a:latin typeface="Candara" panose="020E0502030303020204" pitchFamily="34" charset="0"/>
              </a:rPr>
              <a:t>Пропускаем вакансии через 3П</a:t>
            </a:r>
            <a:endParaRPr b="1" dirty="0">
              <a:solidFill>
                <a:schemeClr val="accent2"/>
              </a:solidFill>
              <a:latin typeface="Candara" panose="020E0502030303020204" pitchFamily="34" charset="0"/>
            </a:endParaRPr>
          </a:p>
        </p:txBody>
      </p:sp>
      <p:pic>
        <p:nvPicPr>
          <p:cNvPr id="2" name="Google Shape;86;p15" title="roitman_consulting_logo_1.png">
            <a:extLst>
              <a:ext uri="{FF2B5EF4-FFF2-40B4-BE49-F238E27FC236}">
                <a16:creationId xmlns:a16="http://schemas.microsoft.com/office/drawing/2014/main" id="{F79A687A-6D21-3BF7-E855-E50B6687C2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51" y="100975"/>
            <a:ext cx="1069602" cy="6232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86F8ADC-65B4-1145-25BF-65C1C1FE8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331311"/>
              </p:ext>
            </p:extLst>
          </p:nvPr>
        </p:nvGraphicFramePr>
        <p:xfrm>
          <a:off x="168036" y="1308786"/>
          <a:ext cx="8751114" cy="31750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630784">
                  <a:extLst>
                    <a:ext uri="{9D8B030D-6E8A-4147-A177-3AD203B41FA5}">
                      <a16:colId xmlns:a16="http://schemas.microsoft.com/office/drawing/2014/main" val="1102835258"/>
                    </a:ext>
                  </a:extLst>
                </a:gridCol>
                <a:gridCol w="5329003">
                  <a:extLst>
                    <a:ext uri="{9D8B030D-6E8A-4147-A177-3AD203B41FA5}">
                      <a16:colId xmlns:a16="http://schemas.microsoft.com/office/drawing/2014/main" val="2270534746"/>
                    </a:ext>
                  </a:extLst>
                </a:gridCol>
                <a:gridCol w="569626">
                  <a:extLst>
                    <a:ext uri="{9D8B030D-6E8A-4147-A177-3AD203B41FA5}">
                      <a16:colId xmlns:a16="http://schemas.microsoft.com/office/drawing/2014/main" val="2897659968"/>
                    </a:ext>
                  </a:extLst>
                </a:gridCol>
                <a:gridCol w="614597">
                  <a:extLst>
                    <a:ext uri="{9D8B030D-6E8A-4147-A177-3AD203B41FA5}">
                      <a16:colId xmlns:a16="http://schemas.microsoft.com/office/drawing/2014/main" val="909432820"/>
                    </a:ext>
                  </a:extLst>
                </a:gridCol>
                <a:gridCol w="607104">
                  <a:extLst>
                    <a:ext uri="{9D8B030D-6E8A-4147-A177-3AD203B41FA5}">
                      <a16:colId xmlns:a16="http://schemas.microsoft.com/office/drawing/2014/main" val="782201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Candara" panose="020E0502030303020204" pitchFamily="34" charset="0"/>
                        </a:rPr>
                        <a:t>Вакансия</a:t>
                      </a:r>
                      <a:endParaRPr lang="en-US" sz="18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Candara" panose="020E0502030303020204" pitchFamily="34" charset="0"/>
                        </a:rPr>
                        <a:t>Чем занимается</a:t>
                      </a:r>
                      <a:endParaRPr lang="en-US" sz="1800" dirty="0">
                        <a:latin typeface="Candara" panose="020E05020303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 err="1">
                          <a:latin typeface="Candara" panose="020E0502030303020204" pitchFamily="34" charset="0"/>
                        </a:rPr>
                        <a:t>Пов</a:t>
                      </a:r>
                      <a:endParaRPr lang="en-US" sz="180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 err="1">
                          <a:latin typeface="Candara" panose="020E0502030303020204" pitchFamily="34" charset="0"/>
                        </a:rPr>
                        <a:t>Пон</a:t>
                      </a:r>
                      <a:endParaRPr lang="en-US" sz="18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Candara" panose="020E0502030303020204" pitchFamily="34" charset="0"/>
                        </a:rPr>
                        <a:t>Поп</a:t>
                      </a:r>
                      <a:endParaRPr lang="en-US" sz="18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886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Candara" panose="020E0502030303020204" pitchFamily="34" charset="0"/>
                        </a:rPr>
                        <a:t>Менеджер по клиентам</a:t>
                      </a:r>
                      <a:endParaRPr lang="en-US" b="1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Отвечает на типовые вопросы в Telegram, </a:t>
                      </a:r>
                      <a:r>
                        <a:rPr lang="ru-RU" sz="1350" b="0" i="0" kern="1200" dirty="0" err="1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Viber</a:t>
                      </a:r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, Instagram, на румынском и русском</a:t>
                      </a:r>
                      <a:endParaRPr lang="en-US" dirty="0">
                        <a:latin typeface="Candara" panose="020E05020303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ndara" panose="020E0502030303020204" pitchFamily="34" charset="0"/>
                        </a:rPr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3909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350" b="1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Оператор заявок</a:t>
                      </a:r>
                      <a:endParaRPr lang="en-US" b="1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Разбирает входящие заявки и заносит их в таблицу или CRM</a:t>
                      </a:r>
                      <a:endParaRPr lang="en-US" dirty="0">
                        <a:latin typeface="Candara" panose="020E05020303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✓</a:t>
                      </a:r>
                      <a:endParaRPr lang="en-US" sz="2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8836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350" b="1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Составитель документов</a:t>
                      </a:r>
                      <a:endParaRPr lang="en-US" b="1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Готовит КП, счета и договоры по шаблону</a:t>
                      </a:r>
                      <a:endParaRPr lang="en-US" dirty="0">
                        <a:latin typeface="Candara" panose="020E05020303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✓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✓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689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350" b="1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Оператор первички</a:t>
                      </a:r>
                      <a:endParaRPr lang="en-US" b="1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Фото накладной или счёта превращает в строку таблицы</a:t>
                      </a:r>
                      <a:endParaRPr lang="en-US" dirty="0">
                        <a:latin typeface="Candara" panose="020E05020303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✓</a:t>
                      </a:r>
                      <a:endParaRPr lang="en-US" sz="2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925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accent2"/>
                          </a:solidFill>
                          <a:latin typeface="Candara" panose="020E0502030303020204" pitchFamily="34" charset="0"/>
                        </a:rPr>
                        <a:t>Аналитик</a:t>
                      </a:r>
                      <a:endParaRPr lang="en-US" b="1" dirty="0">
                        <a:solidFill>
                          <a:schemeClr val="accent2"/>
                        </a:solidFill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Сводит данные и готовит еженедельный отчёт</a:t>
                      </a:r>
                      <a:endParaRPr lang="en-US" dirty="0">
                        <a:latin typeface="Candara" panose="020E05020303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✓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✓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✓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365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accent2"/>
                          </a:solidFill>
                          <a:latin typeface="Candara" panose="020E0502030303020204" pitchFamily="34" charset="0"/>
                        </a:rPr>
                        <a:t>Менеджер по объявлениям</a:t>
                      </a:r>
                      <a:endParaRPr lang="en-US" b="1" dirty="0">
                        <a:solidFill>
                          <a:schemeClr val="accent2"/>
                        </a:solidFill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Ищет нужное (помещения, технику, работу) в объявлениях типа 999.</a:t>
                      </a:r>
                      <a:r>
                        <a:rPr lang="en-US" sz="1350" b="0" i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md</a:t>
                      </a:r>
                      <a:endParaRPr lang="en-US" dirty="0">
                        <a:latin typeface="Candara" panose="020E05020303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ndara" panose="020E0502030303020204" pitchFamily="34" charset="0"/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✓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✓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8075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6040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1852985" y="457917"/>
            <a:ext cx="6581731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accent2"/>
                </a:solidFill>
                <a:latin typeface="Candara" panose="020E0502030303020204" pitchFamily="34" charset="0"/>
              </a:rPr>
              <a:t>Знакомьтесь: </a:t>
            </a:r>
            <a:r>
              <a:rPr lang="en-US" b="1" dirty="0" err="1">
                <a:solidFill>
                  <a:schemeClr val="accent2"/>
                </a:solidFill>
                <a:latin typeface="Candara" panose="020E0502030303020204" pitchFamily="34" charset="0"/>
              </a:rPr>
              <a:t>Clarvitra</a:t>
            </a:r>
            <a:endParaRPr b="1" dirty="0">
              <a:solidFill>
                <a:schemeClr val="accent2"/>
              </a:solidFill>
              <a:latin typeface="Candara" panose="020E0502030303020204" pitchFamily="34" charset="0"/>
            </a:endParaRPr>
          </a:p>
        </p:txBody>
      </p:sp>
      <p:pic>
        <p:nvPicPr>
          <p:cNvPr id="2" name="Google Shape;86;p15" title="roitman_consulting_logo_1.png">
            <a:extLst>
              <a:ext uri="{FF2B5EF4-FFF2-40B4-BE49-F238E27FC236}">
                <a16:creationId xmlns:a16="http://schemas.microsoft.com/office/drawing/2014/main" id="{F79A687A-6D21-3BF7-E855-E50B6687C2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51" y="100975"/>
            <a:ext cx="1069602" cy="62322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0AB57E-12BD-5C96-EDE2-8B66730E5D84}"/>
              </a:ext>
            </a:extLst>
          </p:cNvPr>
          <p:cNvSpPr txBox="1"/>
          <p:nvPr/>
        </p:nvSpPr>
        <p:spPr>
          <a:xfrm>
            <a:off x="132055" y="1708918"/>
            <a:ext cx="614068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latin typeface="Candara" panose="020E0502030303020204" pitchFamily="34" charset="0"/>
              </a:rPr>
              <a:t>Окна и двери ПВХ с установкой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Candara" panose="020E0502030303020204" pitchFamily="34" charset="0"/>
              </a:rPr>
              <a:t>8 человек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Candara" panose="020E0502030303020204" pitchFamily="34" charset="0"/>
              </a:rPr>
              <a:t>3 менеджера клиентов: Наталья, Ион, Андрей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Candara" panose="020E0502030303020204" pitchFamily="34" charset="0"/>
              </a:rPr>
              <a:t>Бухгалтер Марина каждый понедельник сводит отчет 5 часов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Candara" panose="020E0502030303020204" pitchFamily="34" charset="0"/>
              </a:rPr>
              <a:t>Марина одна понимает что творится в отчете</a:t>
            </a:r>
            <a:br>
              <a:rPr lang="ru-RU" sz="2200" dirty="0">
                <a:latin typeface="Candara" panose="020E0502030303020204" pitchFamily="34" charset="0"/>
              </a:rPr>
            </a:br>
            <a:endParaRPr lang="en-US" sz="2200" dirty="0">
              <a:latin typeface="Candara" panose="020E0502030303020204" pitchFamily="34" charset="0"/>
            </a:endParaRPr>
          </a:p>
        </p:txBody>
      </p:sp>
      <p:pic>
        <p:nvPicPr>
          <p:cNvPr id="4" name="Google Shape;87;p15" title="1.2. Один человек.png">
            <a:extLst>
              <a:ext uri="{FF2B5EF4-FFF2-40B4-BE49-F238E27FC236}">
                <a16:creationId xmlns:a16="http://schemas.microsoft.com/office/drawing/2014/main" id="{BB9EE49D-F7D1-279B-BACB-FC1B2445EB8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2738" y="2078999"/>
            <a:ext cx="2762327" cy="29530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401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3254566" y="0"/>
            <a:ext cx="2306786" cy="4560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accent2"/>
                </a:solidFill>
                <a:latin typeface="Candara" panose="020E0502030303020204" pitchFamily="34" charset="0"/>
              </a:rPr>
              <a:t>Узнаете?</a:t>
            </a:r>
            <a:endParaRPr b="1" dirty="0">
              <a:solidFill>
                <a:schemeClr val="accent2"/>
              </a:solidFill>
              <a:latin typeface="Candara" panose="020E0502030303020204" pitchFamily="34" charset="0"/>
            </a:endParaRPr>
          </a:p>
        </p:txBody>
      </p:sp>
      <p:pic>
        <p:nvPicPr>
          <p:cNvPr id="2" name="Google Shape;86;p15" title="roitman_consulting_logo_1.png">
            <a:extLst>
              <a:ext uri="{FF2B5EF4-FFF2-40B4-BE49-F238E27FC236}">
                <a16:creationId xmlns:a16="http://schemas.microsoft.com/office/drawing/2014/main" id="{F79A687A-6D21-3BF7-E855-E50B6687C2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4608" y="76055"/>
            <a:ext cx="868429" cy="45609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D5FF42-BA96-C754-F685-B4A5AE12D284}"/>
              </a:ext>
            </a:extLst>
          </p:cNvPr>
          <p:cNvSpPr txBox="1"/>
          <p:nvPr/>
        </p:nvSpPr>
        <p:spPr>
          <a:xfrm>
            <a:off x="75451" y="369118"/>
            <a:ext cx="2068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andara" panose="020E0502030303020204" pitchFamily="34" charset="0"/>
              </a:rPr>
              <a:t>Наталья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FF3305-DDC1-3D47-AAC6-4E98AD2F0A70}"/>
              </a:ext>
            </a:extLst>
          </p:cNvPr>
          <p:cNvSpPr txBox="1"/>
          <p:nvPr/>
        </p:nvSpPr>
        <p:spPr>
          <a:xfrm>
            <a:off x="0" y="1481544"/>
            <a:ext cx="2068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andara" panose="020E0502030303020204" pitchFamily="34" charset="0"/>
              </a:rPr>
              <a:t>Ион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8F571E-EA31-789D-1E66-BAFDC4035536}"/>
              </a:ext>
            </a:extLst>
          </p:cNvPr>
          <p:cNvSpPr txBox="1"/>
          <p:nvPr/>
        </p:nvSpPr>
        <p:spPr>
          <a:xfrm>
            <a:off x="-67956" y="2676412"/>
            <a:ext cx="2068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andara" panose="020E0502030303020204" pitchFamily="34" charset="0"/>
              </a:rPr>
              <a:t>Андрей</a:t>
            </a:r>
            <a:endParaRPr lang="en-US" dirty="0">
              <a:latin typeface="Candara" panose="020E0502030303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48882D0-0B19-62D1-268B-A71ACB44F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7482" y="4123184"/>
            <a:ext cx="2732371" cy="10203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BCB1FC6-0B3B-B7A1-B6C9-E8EF5DF1FDC7}"/>
              </a:ext>
            </a:extLst>
          </p:cNvPr>
          <p:cNvSpPr txBox="1"/>
          <p:nvPr/>
        </p:nvSpPr>
        <p:spPr>
          <a:xfrm>
            <a:off x="2000186" y="4322818"/>
            <a:ext cx="2068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trike="sngStrike" dirty="0">
                <a:latin typeface="Candara" panose="020E0502030303020204" pitchFamily="34" charset="0"/>
              </a:rPr>
              <a:t>Бедная</a:t>
            </a:r>
            <a:r>
              <a:rPr lang="ru-RU" dirty="0">
                <a:latin typeface="Candara" panose="020E0502030303020204" pitchFamily="34" charset="0"/>
              </a:rPr>
              <a:t> Марина</a:t>
            </a:r>
            <a:endParaRPr lang="en-US" dirty="0">
              <a:latin typeface="Candara" panose="020E0502030303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C8BC32F-8A97-87B9-514E-2840732B95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13524"/>
            <a:ext cx="9144000" cy="72542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18C4732-5D38-1DEC-0831-F37F2DA079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779174"/>
            <a:ext cx="9144000" cy="86563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E7287DA-7CD4-2791-76DC-C9BE754FF5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016505"/>
            <a:ext cx="9144000" cy="9692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E77D13-0371-A37F-4EC6-89BC19FC21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571" y="4275071"/>
            <a:ext cx="868429" cy="86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73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307297" y="0"/>
            <a:ext cx="6056027" cy="4560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accent2"/>
                </a:solidFill>
                <a:latin typeface="Candara" panose="020E0502030303020204" pitchFamily="34" charset="0"/>
              </a:rPr>
              <a:t>Должностная инструкция</a:t>
            </a:r>
            <a:endParaRPr b="1" dirty="0">
              <a:solidFill>
                <a:schemeClr val="accent2"/>
              </a:solidFill>
              <a:latin typeface="Candara" panose="020E0502030303020204" pitchFamily="34" charset="0"/>
            </a:endParaRPr>
          </a:p>
        </p:txBody>
      </p:sp>
      <p:pic>
        <p:nvPicPr>
          <p:cNvPr id="2" name="Google Shape;86;p15" title="roitman_consulting_logo_1.png">
            <a:extLst>
              <a:ext uri="{FF2B5EF4-FFF2-40B4-BE49-F238E27FC236}">
                <a16:creationId xmlns:a16="http://schemas.microsoft.com/office/drawing/2014/main" id="{F79A687A-6D21-3BF7-E855-E50B6687C2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4608" y="76055"/>
            <a:ext cx="868429" cy="456096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D72C680-A2FA-ED9E-5C8B-012A45C73621}"/>
              </a:ext>
            </a:extLst>
          </p:cNvPr>
          <p:cNvSpPr txBox="1"/>
          <p:nvPr/>
        </p:nvSpPr>
        <p:spPr>
          <a:xfrm>
            <a:off x="209636" y="614738"/>
            <a:ext cx="5449151" cy="424731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 Структура файла и особенности каждого менеджера (форматы дат, что пишет в Заметки)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Candara" panose="020E05020303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 Как приводить: даты, города, источники, суммы, евро по курсу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Candara" panose="020E05020303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 Не уверен — не выдумывай, а спроси человека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Candara" panose="020E05020303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 Проверка: выручка должна сойтись с банком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Candara" panose="020E05020303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latin typeface="Candara" panose="020E0502030303020204" pitchFamily="34" charset="0"/>
              </a:rPr>
              <a:t> Результат</a:t>
            </a:r>
            <a:r>
              <a:rPr lang="ru-RU" b="0" i="0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: чистая таблица, журнал изменений, отчёт на страницу</a:t>
            </a:r>
          </a:p>
          <a:p>
            <a:pPr algn="l">
              <a:buFont typeface="+mj-lt"/>
              <a:buAutoNum type="arabicPeriod"/>
            </a:pPr>
            <a:endParaRPr lang="en-US" b="0" i="0" dirty="0">
              <a:solidFill>
                <a:srgbClr val="000000"/>
              </a:solidFill>
              <a:effectLst/>
              <a:latin typeface="Candara" panose="020E05020303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 Отдельная ин</a:t>
            </a:r>
            <a:r>
              <a:rPr lang="ru-RU" dirty="0">
                <a:solidFill>
                  <a:srgbClr val="000000"/>
                </a:solidFill>
                <a:latin typeface="Candara" panose="020E0502030303020204" pitchFamily="34" charset="0"/>
              </a:rPr>
              <a:t>струкция по интерпретации Заметок – прямой путь к качественной Воронке Продаж</a:t>
            </a:r>
            <a:endParaRPr lang="ru-RU" dirty="0">
              <a:latin typeface="Candara" panose="020E0502030303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6CDA30-90E8-BA29-4E91-F2A8DDBCC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9048" y="690793"/>
            <a:ext cx="3673989" cy="3350159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A39C2D-3B49-BC26-FC6C-291A57E42E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571" y="4275071"/>
            <a:ext cx="868429" cy="86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350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307297" y="0"/>
            <a:ext cx="6056027" cy="4560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accent2"/>
                </a:solidFill>
                <a:latin typeface="Candara" panose="020E0502030303020204" pitchFamily="34" charset="0"/>
              </a:rPr>
              <a:t>Результат</a:t>
            </a:r>
            <a:endParaRPr b="1" dirty="0">
              <a:solidFill>
                <a:schemeClr val="accent2"/>
              </a:solidFill>
              <a:latin typeface="Candara" panose="020E0502030303020204" pitchFamily="34" charset="0"/>
            </a:endParaRPr>
          </a:p>
        </p:txBody>
      </p:sp>
      <p:pic>
        <p:nvPicPr>
          <p:cNvPr id="2" name="Google Shape;86;p15" title="roitman_consulting_logo_1.png">
            <a:extLst>
              <a:ext uri="{FF2B5EF4-FFF2-40B4-BE49-F238E27FC236}">
                <a16:creationId xmlns:a16="http://schemas.microsoft.com/office/drawing/2014/main" id="{F79A687A-6D21-3BF7-E855-E50B6687C2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4608" y="76055"/>
            <a:ext cx="868429" cy="45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399EB00-142C-66D0-4C18-3F0846814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571" y="4275071"/>
            <a:ext cx="868429" cy="868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EC8A43-FFC1-1734-9A11-FDBB343E0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1672"/>
            <a:ext cx="9144000" cy="12119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D5D7D8-70E7-3490-CCF0-82BE1CF52D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0645" y="2019165"/>
            <a:ext cx="6781624" cy="14960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5C622F-D330-B935-1720-A6A41ECB7AC6}"/>
              </a:ext>
            </a:extLst>
          </p:cNvPr>
          <p:cNvSpPr txBox="1"/>
          <p:nvPr/>
        </p:nvSpPr>
        <p:spPr>
          <a:xfrm>
            <a:off x="0" y="1925137"/>
            <a:ext cx="2278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andara" panose="020E0502030303020204" pitchFamily="34" charset="0"/>
              </a:rPr>
              <a:t>Ошибки/сомнения</a:t>
            </a:r>
            <a:endParaRPr lang="en-US" dirty="0">
              <a:latin typeface="Candara" panose="020E0502030303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EB8057A-780C-A1FA-F1A1-16E6ED5191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560594"/>
              </p:ext>
            </p:extLst>
          </p:nvPr>
        </p:nvGraphicFramePr>
        <p:xfrm>
          <a:off x="2061147" y="3812861"/>
          <a:ext cx="5786203" cy="10515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86203">
                  <a:extLst>
                    <a:ext uri="{9D8B030D-6E8A-4147-A177-3AD203B41FA5}">
                      <a16:colId xmlns:a16="http://schemas.microsoft.com/office/drawing/2014/main" val="4015570524"/>
                    </a:ext>
                  </a:extLst>
                </a:gridCol>
              </a:tblGrid>
              <a:tr h="150223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 dirty="0">
                          <a:effectLst/>
                        </a:rPr>
                        <a:t>Из Instagram 159 заявок и 12 оплат (7.5%), из рекомендаций 54 заявки и 25 оплат (46.3%).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b"/>
                </a:tc>
                <a:extLst>
                  <a:ext uri="{0D108BD9-81ED-4DB2-BD59-A6C34878D82A}">
                    <a16:rowId xmlns:a16="http://schemas.microsoft.com/office/drawing/2014/main" val="392956947"/>
                  </a:ext>
                </a:extLst>
              </a:tr>
              <a:tr h="150223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 dirty="0">
                          <a:effectLst/>
                        </a:rPr>
                        <a:t>КП отправлено 190, до договора дошли 79: на этапе КП → договор теряется 58%.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b"/>
                </a:tc>
                <a:extLst>
                  <a:ext uri="{0D108BD9-81ED-4DB2-BD59-A6C34878D82A}">
                    <a16:rowId xmlns:a16="http://schemas.microsoft.com/office/drawing/2014/main" val="1821929620"/>
                  </a:ext>
                </a:extLst>
              </a:tr>
              <a:tr h="150223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 dirty="0">
                          <a:effectLst/>
                        </a:rPr>
                        <a:t>КП в течение суток после замера: конверсия в договор 53%, позже: 25%. Разница в 2.2 раза.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b"/>
                </a:tc>
                <a:extLst>
                  <a:ext uri="{0D108BD9-81ED-4DB2-BD59-A6C34878D82A}">
                    <a16:rowId xmlns:a16="http://schemas.microsoft.com/office/drawing/2014/main" val="3329347161"/>
                  </a:ext>
                </a:extLst>
              </a:tr>
              <a:tr h="150223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 dirty="0">
                          <a:effectLst/>
                        </a:rPr>
                        <a:t>Медленные КП стоят примерно 232 000 лей в месяц.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b"/>
                </a:tc>
                <a:extLst>
                  <a:ext uri="{0D108BD9-81ED-4DB2-BD59-A6C34878D82A}">
                    <a16:rowId xmlns:a16="http://schemas.microsoft.com/office/drawing/2014/main" val="1489792209"/>
                  </a:ext>
                </a:extLst>
              </a:tr>
              <a:tr h="150223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effectLst/>
                        </a:rPr>
                        <a:t>Менеджеры, заявка → оплата: Наталья 23.1%, Ion 13.6%, Андрей 18.1%.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b"/>
                </a:tc>
                <a:extLst>
                  <a:ext uri="{0D108BD9-81ED-4DB2-BD59-A6C34878D82A}">
                    <a16:rowId xmlns:a16="http://schemas.microsoft.com/office/drawing/2014/main" val="3665312534"/>
                  </a:ext>
                </a:extLst>
              </a:tr>
              <a:tr h="150223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 dirty="0">
                          <a:effectLst/>
                        </a:rPr>
                        <a:t>Строк в листах менеджеров: 435. Уникальных заявок: 415. </a:t>
                      </a:r>
                      <a:r>
                        <a:rPr lang="ru-RU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Убрано копий: 8, склеено повторных: 12</a:t>
                      </a:r>
                      <a:r>
                        <a:rPr lang="ru-RU" sz="900" u="none" strike="noStrike" dirty="0">
                          <a:effectLst/>
                        </a:rPr>
                        <a:t>.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b"/>
                </a:tc>
                <a:extLst>
                  <a:ext uri="{0D108BD9-81ED-4DB2-BD59-A6C34878D82A}">
                    <a16:rowId xmlns:a16="http://schemas.microsoft.com/office/drawing/2014/main" val="1206988622"/>
                  </a:ext>
                </a:extLst>
              </a:tr>
              <a:tr h="150223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 dirty="0">
                          <a:effectLst/>
                        </a:rPr>
                        <a:t>Выручка за лето (оплачено): 2 614 586 MDL.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9" marR="6259" marT="6259" marB="0" anchor="b"/>
                </a:tc>
                <a:extLst>
                  <a:ext uri="{0D108BD9-81ED-4DB2-BD59-A6C34878D82A}">
                    <a16:rowId xmlns:a16="http://schemas.microsoft.com/office/drawing/2014/main" val="226434570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E192673-DF84-D2B6-B5AE-0CE1D6C5E1C1}"/>
              </a:ext>
            </a:extLst>
          </p:cNvPr>
          <p:cNvSpPr txBox="1"/>
          <p:nvPr/>
        </p:nvSpPr>
        <p:spPr>
          <a:xfrm>
            <a:off x="-1" y="3690767"/>
            <a:ext cx="2278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andara" panose="020E0502030303020204" pitchFamily="34" charset="0"/>
              </a:rPr>
              <a:t>Статистика</a:t>
            </a:r>
            <a:endParaRPr 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18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307297" y="0"/>
            <a:ext cx="6056027" cy="4560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accent2"/>
                </a:solidFill>
                <a:latin typeface="Candara" panose="020E0502030303020204" pitchFamily="34" charset="0"/>
              </a:rPr>
              <a:t>Воронка продаж: статистика</a:t>
            </a:r>
            <a:endParaRPr b="1" dirty="0">
              <a:solidFill>
                <a:schemeClr val="accent2"/>
              </a:solidFill>
              <a:latin typeface="Candara" panose="020E0502030303020204" pitchFamily="34" charset="0"/>
            </a:endParaRPr>
          </a:p>
        </p:txBody>
      </p:sp>
      <p:pic>
        <p:nvPicPr>
          <p:cNvPr id="2" name="Google Shape;86;p15" title="roitman_consulting_logo_1.png">
            <a:extLst>
              <a:ext uri="{FF2B5EF4-FFF2-40B4-BE49-F238E27FC236}">
                <a16:creationId xmlns:a16="http://schemas.microsoft.com/office/drawing/2014/main" id="{F79A687A-6D21-3BF7-E855-E50B6687C2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4608" y="76055"/>
            <a:ext cx="868429" cy="45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399EB00-142C-66D0-4C18-3F0846814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571" y="4275071"/>
            <a:ext cx="868429" cy="868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7438E7-82BE-192D-25ED-FF9247948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075" y="649830"/>
            <a:ext cx="7439140" cy="13588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33ECA9-CF9F-DEB2-59BA-BFCA8CFAE31C}"/>
              </a:ext>
            </a:extLst>
          </p:cNvPr>
          <p:cNvSpPr txBox="1"/>
          <p:nvPr/>
        </p:nvSpPr>
        <p:spPr>
          <a:xfrm>
            <a:off x="119921" y="682925"/>
            <a:ext cx="1214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andara" panose="020E0502030303020204" pitchFamily="34" charset="0"/>
              </a:rPr>
              <a:t>Каналы продаж</a:t>
            </a:r>
            <a:endParaRPr lang="en-US" dirty="0">
              <a:latin typeface="Candara" panose="020E0502030303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0D7F1CC-C85E-F1E9-1FF2-5CA81A3499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9075" y="2211681"/>
            <a:ext cx="7547548" cy="77298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717B01-8557-AD66-6FA2-3E31D5B2893C}"/>
              </a:ext>
            </a:extLst>
          </p:cNvPr>
          <p:cNvSpPr txBox="1"/>
          <p:nvPr/>
        </p:nvSpPr>
        <p:spPr>
          <a:xfrm>
            <a:off x="119920" y="2286631"/>
            <a:ext cx="12891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ndara" panose="020E0502030303020204" pitchFamily="34" charset="0"/>
              </a:rPr>
              <a:t>Менеджеры</a:t>
            </a:r>
            <a:endParaRPr lang="en-US" sz="1600" dirty="0">
              <a:latin typeface="Candara" panose="020E05020303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CDB48A-CBB5-7A19-9E8D-F1093538441C}"/>
              </a:ext>
            </a:extLst>
          </p:cNvPr>
          <p:cNvSpPr txBox="1"/>
          <p:nvPr/>
        </p:nvSpPr>
        <p:spPr>
          <a:xfrm>
            <a:off x="232348" y="3350302"/>
            <a:ext cx="732269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Каналы: </a:t>
            </a:r>
            <a:r>
              <a:rPr lang="en-US" sz="1400" b="0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I</a:t>
            </a:r>
            <a:r>
              <a:rPr lang="ru-RU" sz="1400" b="0" dirty="0" err="1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nstagram</a:t>
            </a:r>
            <a:r>
              <a:rPr lang="ru-RU" sz="1400" b="0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 приносит больше всего заявок, но оплачивают 7 из ста. Рекомендаций втрое меньше, но оплачивает почти каждый второй. Вывод для владельца: «Рекомендации — лучший канал, а вы за него ничего не платите. Может, стоит платить?»</a:t>
            </a:r>
            <a:endParaRPr lang="en-US" sz="1400" b="0" dirty="0">
              <a:solidFill>
                <a:srgbClr val="000000"/>
              </a:solidFill>
              <a:effectLst/>
              <a:latin typeface="Candara" panose="020E0502030303020204" pitchFamily="34" charset="0"/>
            </a:endParaRPr>
          </a:p>
          <a:p>
            <a:endParaRPr lang="ru-RU" sz="1400" b="0" dirty="0">
              <a:solidFill>
                <a:srgbClr val="000000"/>
              </a:solidFill>
              <a:effectLst/>
              <a:latin typeface="Candara" panose="020E0502030303020204" pitchFamily="34" charset="0"/>
            </a:endParaRPr>
          </a:p>
          <a:p>
            <a:r>
              <a:rPr lang="ru-RU" sz="1400" b="1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Менеджеры: </a:t>
            </a:r>
            <a:r>
              <a:rPr lang="ru-RU" sz="1400" b="0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«Наталья продаёт лучше всех. Она талантливее? Смотрим: Наталья отправляет за сутки 88% КП, Ион — 31%. А у самого Иона быстрые КП превращаются в договор в 59% случаев, медленные в 24%. Дело не в таланте, а в скорости».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431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307297" y="0"/>
            <a:ext cx="6056027" cy="4560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accent2"/>
                </a:solidFill>
                <a:latin typeface="Candara" panose="020E0502030303020204" pitchFamily="34" charset="0"/>
              </a:rPr>
              <a:t>Воронка продаж</a:t>
            </a:r>
            <a:r>
              <a:rPr lang="en-US" b="1" dirty="0">
                <a:solidFill>
                  <a:schemeClr val="accent2"/>
                </a:solidFill>
                <a:latin typeface="Candara" panose="020E0502030303020204" pitchFamily="34" charset="0"/>
              </a:rPr>
              <a:t>: </a:t>
            </a:r>
            <a:r>
              <a:rPr lang="ru-RU" b="1" dirty="0">
                <a:solidFill>
                  <a:schemeClr val="accent2"/>
                </a:solidFill>
                <a:latin typeface="Candara" panose="020E0502030303020204" pitchFamily="34" charset="0"/>
              </a:rPr>
              <a:t>скорость</a:t>
            </a:r>
            <a:endParaRPr b="1" dirty="0">
              <a:solidFill>
                <a:schemeClr val="accent2"/>
              </a:solidFill>
              <a:latin typeface="Candara" panose="020E0502030303020204" pitchFamily="34" charset="0"/>
            </a:endParaRPr>
          </a:p>
        </p:txBody>
      </p:sp>
      <p:pic>
        <p:nvPicPr>
          <p:cNvPr id="2" name="Google Shape;86;p15" title="roitman_consulting_logo_1.png">
            <a:extLst>
              <a:ext uri="{FF2B5EF4-FFF2-40B4-BE49-F238E27FC236}">
                <a16:creationId xmlns:a16="http://schemas.microsoft.com/office/drawing/2014/main" id="{F79A687A-6D21-3BF7-E855-E50B6687C2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4608" y="76055"/>
            <a:ext cx="868429" cy="45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399EB00-142C-66D0-4C18-3F0846814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571" y="4275071"/>
            <a:ext cx="868429" cy="8684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5CDB48A-CBB5-7A19-9E8D-F1093538441C}"/>
              </a:ext>
            </a:extLst>
          </p:cNvPr>
          <p:cNvSpPr txBox="1"/>
          <p:nvPr/>
        </p:nvSpPr>
        <p:spPr>
          <a:xfrm>
            <a:off x="232348" y="3350302"/>
            <a:ext cx="754005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rgbClr val="000080"/>
                </a:solidFill>
                <a:effectLst/>
                <a:latin typeface="Candara" panose="020E0502030303020204" pitchFamily="34" charset="0"/>
              </a:rPr>
              <a:t>Главный инсайт:</a:t>
            </a:r>
            <a:r>
              <a:rPr lang="ru-RU" sz="1400" b="0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 Если коммерческое предложения уходит в течение суток после замера, договор подписывают в два раза чаще</a:t>
            </a:r>
          </a:p>
          <a:p>
            <a:endParaRPr lang="ru-RU" sz="1400" b="0" dirty="0">
              <a:solidFill>
                <a:srgbClr val="000000"/>
              </a:solidFill>
              <a:effectLst/>
              <a:latin typeface="Candara" panose="020E0502030303020204" pitchFamily="34" charset="0"/>
            </a:endParaRPr>
          </a:p>
          <a:p>
            <a:r>
              <a:rPr lang="ru-RU" sz="1400" b="1" dirty="0">
                <a:solidFill>
                  <a:srgbClr val="000080"/>
                </a:solidFill>
                <a:effectLst/>
                <a:latin typeface="Candara" panose="020E0502030303020204" pitchFamily="34" charset="0"/>
              </a:rPr>
              <a:t>Деньги:</a:t>
            </a:r>
            <a:r>
              <a:rPr lang="ru-RU" sz="1400" b="0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 Медленные КП за лето — это около 20 несостоявшихся договоров, до 700 тысяч лей</a:t>
            </a:r>
          </a:p>
          <a:p>
            <a:endParaRPr lang="ru-RU" sz="1400" b="0" dirty="0">
              <a:solidFill>
                <a:srgbClr val="000000"/>
              </a:solidFill>
              <a:effectLst/>
              <a:latin typeface="Candara" panose="020E0502030303020204" pitchFamily="34" charset="0"/>
            </a:endParaRPr>
          </a:p>
          <a:p>
            <a:r>
              <a:rPr lang="ru-RU" sz="1400" b="1" dirty="0">
                <a:solidFill>
                  <a:srgbClr val="000000"/>
                </a:solidFill>
                <a:latin typeface="Candara" panose="020E0502030303020204" pitchFamily="34" charset="0"/>
              </a:rPr>
              <a:t>Рекомендация</a:t>
            </a:r>
            <a:r>
              <a:rPr lang="ru-RU" sz="1400" dirty="0">
                <a:solidFill>
                  <a:srgbClr val="000000"/>
                </a:solidFill>
                <a:latin typeface="Candara" panose="020E0502030303020204" pitchFamily="34" charset="0"/>
              </a:rPr>
              <a:t>: </a:t>
            </a:r>
            <a:r>
              <a:rPr lang="ru-RU" sz="1400" b="0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Сделать правилом „КП в день замера или на следующий день“.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A1DD32-1283-F453-6985-F51872DB71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985" y="549952"/>
            <a:ext cx="830580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323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79;p14" title="roitman_consulting_logo_1.png">
            <a:extLst>
              <a:ext uri="{FF2B5EF4-FFF2-40B4-BE49-F238E27FC236}">
                <a16:creationId xmlns:a16="http://schemas.microsoft.com/office/drawing/2014/main" id="{97ED1EBC-18C5-E788-2399-1ED49794D2F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8178" y="100975"/>
            <a:ext cx="1069602" cy="6232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2;p16">
            <a:extLst>
              <a:ext uri="{FF2B5EF4-FFF2-40B4-BE49-F238E27FC236}">
                <a16:creationId xmlns:a16="http://schemas.microsoft.com/office/drawing/2014/main" id="{950F8294-EA67-9609-2AD1-AD0A2737C8BE}"/>
              </a:ext>
            </a:extLst>
          </p:cNvPr>
          <p:cNvSpPr txBox="1">
            <a:spLocks/>
          </p:cNvSpPr>
          <p:nvPr/>
        </p:nvSpPr>
        <p:spPr>
          <a:xfrm>
            <a:off x="307297" y="0"/>
            <a:ext cx="7472598" cy="72420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b="1" dirty="0">
                <a:solidFill>
                  <a:schemeClr val="accent2"/>
                </a:solidFill>
                <a:latin typeface="Candara" panose="020E0502030303020204" pitchFamily="34" charset="0"/>
              </a:rPr>
              <a:t>План на понедельник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C13A0E-5214-614E-BC5B-A3F42DE3D30D}"/>
              </a:ext>
            </a:extLst>
          </p:cNvPr>
          <p:cNvSpPr txBox="1"/>
          <p:nvPr/>
        </p:nvSpPr>
        <p:spPr>
          <a:xfrm>
            <a:off x="4159771" y="784433"/>
            <a:ext cx="487801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Выпишите 10 задач, которые повторялись на этой неделе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Прогоните через три П и выберите одну. Лучшая кандидатура – самая скучная задача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Напишите инструкцию, как для новичка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Испытательный срок: 10 реальных примеров, сравните с человеком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Работает? Повышайте: сохраните инструкцию («наймите сотрудника»), и попробуйте его в деле</a:t>
            </a:r>
          </a:p>
          <a:p>
            <a:pPr algn="l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latin typeface="Candara" panose="020E0502030303020204" pitchFamily="34" charset="0"/>
              </a:rPr>
              <a:t>Взболтать, повторить через неделю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Candara" panose="020E0502030303020204" pitchFamily="34" charset="0"/>
            </a:endParaRPr>
          </a:p>
          <a:p>
            <a:pPr algn="l"/>
            <a:r>
              <a:rPr lang="ru-RU" dirty="0">
                <a:solidFill>
                  <a:srgbClr val="000000"/>
                </a:solidFill>
                <a:latin typeface="Candara" panose="020E0502030303020204" pitchFamily="34" charset="0"/>
              </a:rPr>
              <a:t>Помните – волшебной кнопки нет. Есть маленькие улучшения, перерастающие в привычку</a:t>
            </a:r>
            <a:endParaRPr lang="en-US" dirty="0">
              <a:latin typeface="Candara" panose="020E0502030303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1EC661-11EF-8974-1A82-587781BF2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84433"/>
            <a:ext cx="4162592" cy="416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702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79;p14" title="roitman_consulting_logo_1.png">
            <a:extLst>
              <a:ext uri="{FF2B5EF4-FFF2-40B4-BE49-F238E27FC236}">
                <a16:creationId xmlns:a16="http://schemas.microsoft.com/office/drawing/2014/main" id="{97ED1EBC-18C5-E788-2399-1ED49794D2F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8178" y="100975"/>
            <a:ext cx="1069602" cy="62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C65AC0-081E-04E2-38F9-847A4CE05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91915"/>
            <a:ext cx="4032354" cy="4032354"/>
          </a:xfrm>
          <a:prstGeom prst="rect">
            <a:avLst/>
          </a:prstGeom>
        </p:spPr>
      </p:pic>
      <p:sp>
        <p:nvSpPr>
          <p:cNvPr id="6" name="Google Shape;92;p16">
            <a:extLst>
              <a:ext uri="{FF2B5EF4-FFF2-40B4-BE49-F238E27FC236}">
                <a16:creationId xmlns:a16="http://schemas.microsoft.com/office/drawing/2014/main" id="{950F8294-EA67-9609-2AD1-AD0A2737C8BE}"/>
              </a:ext>
            </a:extLst>
          </p:cNvPr>
          <p:cNvSpPr txBox="1">
            <a:spLocks/>
          </p:cNvSpPr>
          <p:nvPr/>
        </p:nvSpPr>
        <p:spPr>
          <a:xfrm>
            <a:off x="307297" y="0"/>
            <a:ext cx="7472598" cy="72420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b="1" dirty="0">
                <a:solidFill>
                  <a:schemeClr val="accent2"/>
                </a:solidFill>
                <a:latin typeface="Candara" panose="020E0502030303020204" pitchFamily="34" charset="0"/>
              </a:rPr>
              <a:t>Три уровня сотрудника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360890-6640-AF38-A364-3F38C1C947D4}"/>
              </a:ext>
            </a:extLst>
          </p:cNvPr>
          <p:cNvSpPr txBox="1"/>
          <p:nvPr/>
        </p:nvSpPr>
        <p:spPr>
          <a:xfrm>
            <a:off x="4107306" y="824459"/>
            <a:ext cx="4930474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sz="1700" dirty="0">
                <a:latin typeface="Candara" panose="020E0502030303020204" pitchFamily="34" charset="0"/>
              </a:rPr>
              <a:t>Стажер. Вы объясняете задачу в чате каждый раз, включая полный контекст. Этот уровень удобен для отладки инструкций</a:t>
            </a:r>
          </a:p>
          <a:p>
            <a:pPr marL="342900" indent="-342900">
              <a:buAutoNum type="arabicPeriod"/>
            </a:pPr>
            <a:endParaRPr lang="ru-RU" sz="1700" dirty="0">
              <a:latin typeface="Candara" panose="020E0502030303020204" pitchFamily="34" charset="0"/>
            </a:endParaRPr>
          </a:p>
          <a:p>
            <a:pPr marL="342900" indent="-342900">
              <a:buAutoNum type="arabicPeriod"/>
            </a:pPr>
            <a:r>
              <a:rPr lang="ru-RU" sz="1700" dirty="0">
                <a:latin typeface="Candara" panose="020E0502030303020204" pitchFamily="34" charset="0"/>
              </a:rPr>
              <a:t>Сотрудник. Знает необходимый контекст, имеет Должностную инструкцию. Вы просто сообщаете ему входные данные, и он работает</a:t>
            </a:r>
          </a:p>
          <a:p>
            <a:pPr marL="342900" indent="-342900">
              <a:buAutoNum type="arabicPeriod"/>
            </a:pPr>
            <a:endParaRPr lang="ru-RU" sz="1700" dirty="0">
              <a:latin typeface="Candara" panose="020E0502030303020204" pitchFamily="34" charset="0"/>
            </a:endParaRPr>
          </a:p>
          <a:p>
            <a:pPr marL="342900" indent="-342900">
              <a:buAutoNum type="arabicPeriod"/>
            </a:pPr>
            <a:r>
              <a:rPr lang="ru-RU" sz="1700" dirty="0">
                <a:latin typeface="Candara" panose="020E0502030303020204" pitchFamily="34" charset="0"/>
              </a:rPr>
              <a:t>Автономный процесс. Знает где взять входные данные, знает куда отправить результаты, знает что делать при ошибке</a:t>
            </a:r>
          </a:p>
          <a:p>
            <a:pPr marL="342900" indent="-342900">
              <a:buAutoNum type="arabicPeriod"/>
            </a:pPr>
            <a:endParaRPr lang="ru-RU" sz="1700" dirty="0">
              <a:latin typeface="Candara" panose="020E0502030303020204" pitchFamily="34" charset="0"/>
            </a:endParaRPr>
          </a:p>
          <a:p>
            <a:r>
              <a:rPr lang="ru-RU" sz="1700" b="1" dirty="0">
                <a:solidFill>
                  <a:schemeClr val="accent2"/>
                </a:solidFill>
                <a:latin typeface="Candara" panose="020E0502030303020204" pitchFamily="34" charset="0"/>
              </a:rPr>
              <a:t>Идеал: «Офис» для </a:t>
            </a:r>
            <a:r>
              <a:rPr lang="en-US" sz="1700" b="1" dirty="0">
                <a:solidFill>
                  <a:schemeClr val="accent2"/>
                </a:solidFill>
                <a:latin typeface="Candara" panose="020E0502030303020204" pitchFamily="34" charset="0"/>
              </a:rPr>
              <a:t>AI</a:t>
            </a:r>
            <a:r>
              <a:rPr lang="ru-RU" sz="1700" b="1" dirty="0">
                <a:solidFill>
                  <a:schemeClr val="accent2"/>
                </a:solidFill>
                <a:latin typeface="Candara" panose="020E0502030303020204" pitchFamily="34" charset="0"/>
              </a:rPr>
              <a:t>. Единый контекст и единая платформа, процессы и контроль отлажены</a:t>
            </a:r>
            <a:endParaRPr lang="en-US" sz="1700" b="1" dirty="0">
              <a:solidFill>
                <a:schemeClr val="accent2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4323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6;p15" title="roitman_consulting_logo_1.png">
            <a:extLst>
              <a:ext uri="{FF2B5EF4-FFF2-40B4-BE49-F238E27FC236}">
                <a16:creationId xmlns:a16="http://schemas.microsoft.com/office/drawing/2014/main" id="{F79A687A-6D21-3BF7-E855-E50B6687C2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4608" y="76055"/>
            <a:ext cx="868429" cy="45609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D5FF42-BA96-C754-F685-B4A5AE12D284}"/>
              </a:ext>
            </a:extLst>
          </p:cNvPr>
          <p:cNvSpPr txBox="1"/>
          <p:nvPr/>
        </p:nvSpPr>
        <p:spPr>
          <a:xfrm>
            <a:off x="127415" y="946275"/>
            <a:ext cx="2068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andara" panose="020E0502030303020204" pitchFamily="34" charset="0"/>
              </a:rPr>
              <a:t>1.</a:t>
            </a:r>
            <a:endParaRPr lang="en-US" dirty="0">
              <a:latin typeface="Candara" panose="020E0502030303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92253A-0A43-5FA9-0887-BFF948F3F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26" y="674699"/>
            <a:ext cx="1571915" cy="8768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009110-FFCC-BC72-82CA-876E0B3EB4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86" y="608866"/>
            <a:ext cx="2958996" cy="12512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DF433B-197F-ACAB-04FF-6D6915BC0D7C}"/>
              </a:ext>
            </a:extLst>
          </p:cNvPr>
          <p:cNvSpPr txBox="1"/>
          <p:nvPr/>
        </p:nvSpPr>
        <p:spPr>
          <a:xfrm>
            <a:off x="2855399" y="750064"/>
            <a:ext cx="2068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andara" panose="020E0502030303020204" pitchFamily="34" charset="0"/>
              </a:rPr>
              <a:t>2.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FE398D-3F09-FB77-777B-DEB64F4C9065}"/>
              </a:ext>
            </a:extLst>
          </p:cNvPr>
          <p:cNvSpPr txBox="1"/>
          <p:nvPr/>
        </p:nvSpPr>
        <p:spPr>
          <a:xfrm>
            <a:off x="0" y="2485585"/>
            <a:ext cx="2068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andara" panose="020E0502030303020204" pitchFamily="34" charset="0"/>
              </a:rPr>
              <a:t>3.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72C680-A2FA-ED9E-5C8B-012A45C73621}"/>
              </a:ext>
            </a:extLst>
          </p:cNvPr>
          <p:cNvSpPr txBox="1"/>
          <p:nvPr/>
        </p:nvSpPr>
        <p:spPr>
          <a:xfrm>
            <a:off x="419498" y="2113754"/>
            <a:ext cx="5943826" cy="292387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2"/>
                </a:solidFill>
                <a:latin typeface="Candara" panose="020E0502030303020204" pitchFamily="34" charset="0"/>
              </a:rPr>
              <a:t>Важно:</a:t>
            </a:r>
            <a:br>
              <a:rPr lang="ru-RU" dirty="0">
                <a:latin typeface="Candara" panose="020E0502030303020204" pitchFamily="34" charset="0"/>
              </a:rPr>
            </a:br>
            <a:r>
              <a:rPr lang="ru-RU" sz="1400" dirty="0">
                <a:latin typeface="Candara" panose="020E0502030303020204" pitchFamily="34" charset="0"/>
              </a:rPr>
              <a:t>1. Должностная инструкция – пишите как для человека</a:t>
            </a:r>
          </a:p>
          <a:p>
            <a:r>
              <a:rPr lang="ru-RU" sz="1400" dirty="0">
                <a:latin typeface="Candara" panose="020E0502030303020204" pitchFamily="34" charset="0"/>
              </a:rPr>
              <a:t> </a:t>
            </a:r>
          </a:p>
          <a:p>
            <a:r>
              <a:rPr lang="ru-RU" sz="1400" dirty="0">
                <a:latin typeface="Candara" panose="020E0502030303020204" pitchFamily="34" charset="0"/>
              </a:rPr>
              <a:t>2. Вы отвечаете за то что упущено, недосказано или указано неверно</a:t>
            </a:r>
          </a:p>
          <a:p>
            <a:endParaRPr lang="ru-RU" sz="1400" dirty="0">
              <a:latin typeface="Candara" panose="020E0502030303020204" pitchFamily="34" charset="0"/>
            </a:endParaRPr>
          </a:p>
          <a:p>
            <a:r>
              <a:rPr lang="ru-RU" sz="1400" dirty="0">
                <a:latin typeface="Candara" panose="020E0502030303020204" pitchFamily="34" charset="0"/>
              </a:rPr>
              <a:t>3. Написание должностной инструкции – повторяющийся процесс</a:t>
            </a:r>
          </a:p>
          <a:p>
            <a:endParaRPr lang="ru-RU" sz="1400" dirty="0">
              <a:latin typeface="Candara" panose="020E0502030303020204" pitchFamily="34" charset="0"/>
            </a:endParaRPr>
          </a:p>
          <a:p>
            <a:r>
              <a:rPr lang="ru-RU" sz="1400" dirty="0">
                <a:latin typeface="Candara" panose="020E0502030303020204" pitchFamily="34" charset="0"/>
              </a:rPr>
              <a:t>4. Лучший метод -- пробуйте, ошибайтесь, уточняйте</a:t>
            </a:r>
          </a:p>
          <a:p>
            <a:endParaRPr lang="ru-RU" sz="1400" dirty="0">
              <a:latin typeface="Candara" panose="020E0502030303020204" pitchFamily="34" charset="0"/>
            </a:endParaRPr>
          </a:p>
          <a:p>
            <a:r>
              <a:rPr lang="ru-RU" dirty="0">
                <a:latin typeface="Candara" panose="020E0502030303020204" pitchFamily="34" charset="0"/>
              </a:rPr>
              <a:t>5. Спорить с </a:t>
            </a:r>
            <a:r>
              <a:rPr lang="en-US" dirty="0">
                <a:latin typeface="Candara" panose="020E0502030303020204" pitchFamily="34" charset="0"/>
              </a:rPr>
              <a:t>AI </a:t>
            </a:r>
            <a:r>
              <a:rPr lang="ru-RU" dirty="0">
                <a:latin typeface="Candara" panose="020E0502030303020204" pitchFamily="34" charset="0"/>
              </a:rPr>
              <a:t>бесполезно</a:t>
            </a:r>
          </a:p>
          <a:p>
            <a:endParaRPr lang="ru-RU" dirty="0">
              <a:latin typeface="Candara" panose="020E0502030303020204" pitchFamily="34" charset="0"/>
            </a:endParaRPr>
          </a:p>
          <a:p>
            <a:r>
              <a:rPr lang="ru-RU" dirty="0">
                <a:latin typeface="Candara" panose="020E0502030303020204" pitchFamily="34" charset="0"/>
              </a:rPr>
              <a:t>6. А вот спросить почему что-то пошло не так – полезно</a:t>
            </a:r>
          </a:p>
        </p:txBody>
      </p:sp>
      <p:sp>
        <p:nvSpPr>
          <p:cNvPr id="10" name="Google Shape;92;p16">
            <a:extLst>
              <a:ext uri="{FF2B5EF4-FFF2-40B4-BE49-F238E27FC236}">
                <a16:creationId xmlns:a16="http://schemas.microsoft.com/office/drawing/2014/main" id="{B9676504-5A29-2186-95C0-610DE19761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7297" y="0"/>
            <a:ext cx="6056027" cy="4560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accent2"/>
                </a:solidFill>
                <a:latin typeface="Candara" panose="020E0502030303020204" pitchFamily="34" charset="0"/>
              </a:rPr>
              <a:t>Нанимаем работника</a:t>
            </a:r>
            <a:endParaRPr b="1" dirty="0">
              <a:solidFill>
                <a:schemeClr val="accent2"/>
              </a:solidFill>
              <a:latin typeface="Candara" panose="020E0502030303020204" pitchFamily="34" charset="0"/>
            </a:endParaRP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7AC460DD-E24F-931A-3543-80A7041C2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6043" y="1394085"/>
            <a:ext cx="2697957" cy="269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6395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79;p14" title="roitman_consulting_logo_1.png">
            <a:extLst>
              <a:ext uri="{FF2B5EF4-FFF2-40B4-BE49-F238E27FC236}">
                <a16:creationId xmlns:a16="http://schemas.microsoft.com/office/drawing/2014/main" id="{97ED1EBC-18C5-E788-2399-1ED49794D2F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8178" y="100975"/>
            <a:ext cx="1069602" cy="6232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2;p16">
            <a:extLst>
              <a:ext uri="{FF2B5EF4-FFF2-40B4-BE49-F238E27FC236}">
                <a16:creationId xmlns:a16="http://schemas.microsoft.com/office/drawing/2014/main" id="{950F8294-EA67-9609-2AD1-AD0A2737C8BE}"/>
              </a:ext>
            </a:extLst>
          </p:cNvPr>
          <p:cNvSpPr txBox="1">
            <a:spLocks/>
          </p:cNvSpPr>
          <p:nvPr/>
        </p:nvSpPr>
        <p:spPr>
          <a:xfrm>
            <a:off x="307297" y="0"/>
            <a:ext cx="7472598" cy="72420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b="1" strike="dblStrike" dirty="0">
                <a:solidFill>
                  <a:schemeClr val="accent2"/>
                </a:solidFill>
                <a:latin typeface="Candara" panose="020E0502030303020204" pitchFamily="34" charset="0"/>
              </a:rPr>
              <a:t>Вредные </a:t>
            </a:r>
            <a:r>
              <a:rPr lang="ru-RU" b="1" dirty="0">
                <a:solidFill>
                  <a:schemeClr val="accent2"/>
                </a:solidFill>
                <a:latin typeface="Candara" panose="020E0502030303020204" pitchFamily="34" charset="0"/>
              </a:rPr>
              <a:t>советы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C13A0E-5214-614E-BC5B-A3F42DE3D30D}"/>
              </a:ext>
            </a:extLst>
          </p:cNvPr>
          <p:cNvSpPr txBox="1"/>
          <p:nvPr/>
        </p:nvSpPr>
        <p:spPr>
          <a:xfrm>
            <a:off x="4159771" y="784433"/>
            <a:ext cx="48780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u-RU" dirty="0">
                <a:latin typeface="Candara" panose="020E0502030303020204" pitchFamily="34" charset="0"/>
              </a:rPr>
              <a:t> Пишите должностную инструкцию маленькими частями</a:t>
            </a:r>
          </a:p>
          <a:p>
            <a:pPr algn="l">
              <a:buFont typeface="+mj-lt"/>
              <a:buAutoNum type="arabicPeriod"/>
            </a:pPr>
            <a:r>
              <a:rPr lang="ru-RU" dirty="0">
                <a:latin typeface="Candara" panose="020E0502030303020204" pitchFamily="34" charset="0"/>
              </a:rPr>
              <a:t> Используйте </a:t>
            </a:r>
            <a:r>
              <a:rPr lang="en-US" dirty="0">
                <a:latin typeface="Candara" panose="020E0502030303020204" pitchFamily="34" charset="0"/>
              </a:rPr>
              <a:t>Git</a:t>
            </a:r>
            <a:r>
              <a:rPr lang="ru-RU" dirty="0">
                <a:latin typeface="Candara" panose="020E0502030303020204" pitchFamily="34" charset="0"/>
              </a:rPr>
              <a:t>, тестируйте и откатывайтесь при ошибках</a:t>
            </a:r>
          </a:p>
          <a:p>
            <a:pPr algn="l">
              <a:buFont typeface="+mj-lt"/>
              <a:buAutoNum type="arabicPeriod"/>
            </a:pPr>
            <a:r>
              <a:rPr lang="ru-RU" dirty="0">
                <a:latin typeface="Candara" panose="020E0502030303020204" pitchFamily="34" charset="0"/>
              </a:rPr>
              <a:t> Хорошая инструкция – маленькая. Качество работы </a:t>
            </a:r>
            <a:r>
              <a:rPr lang="en-US" dirty="0">
                <a:latin typeface="Candara" panose="020E0502030303020204" pitchFamily="34" charset="0"/>
              </a:rPr>
              <a:t>AI </a:t>
            </a:r>
            <a:r>
              <a:rPr lang="ru-RU" dirty="0">
                <a:latin typeface="Candara" panose="020E0502030303020204" pitchFamily="34" charset="0"/>
              </a:rPr>
              <a:t>сильно деградирует, если в инструкция большая </a:t>
            </a:r>
            <a:r>
              <a:rPr lang="ru-RU">
                <a:latin typeface="Candara" panose="020E0502030303020204" pitchFamily="34" charset="0"/>
              </a:rPr>
              <a:t>(делайте до </a:t>
            </a:r>
            <a:r>
              <a:rPr lang="ru-RU" dirty="0">
                <a:latin typeface="Candara" panose="020E0502030303020204" pitchFamily="34" charset="0"/>
              </a:rPr>
              <a:t>5</a:t>
            </a:r>
            <a:r>
              <a:rPr lang="ru-RU">
                <a:latin typeface="Candara" panose="020E0502030303020204" pitchFamily="34" charset="0"/>
              </a:rPr>
              <a:t>000 </a:t>
            </a:r>
            <a:r>
              <a:rPr lang="ru-RU" dirty="0">
                <a:latin typeface="Candara" panose="020E0502030303020204" pitchFamily="34" charset="0"/>
              </a:rPr>
              <a:t>слов)</a:t>
            </a:r>
          </a:p>
          <a:p>
            <a:pPr algn="l">
              <a:buFont typeface="+mj-lt"/>
              <a:buAutoNum type="arabicPeriod"/>
            </a:pPr>
            <a:r>
              <a:rPr lang="ru-RU" dirty="0">
                <a:latin typeface="Candara" panose="020E0502030303020204" pitchFamily="34" charset="0"/>
              </a:rPr>
              <a:t> Качество страдает если инструкция </a:t>
            </a:r>
            <a:r>
              <a:rPr lang="ru-RU" dirty="0" err="1">
                <a:latin typeface="Candara" panose="020E0502030303020204" pitchFamily="34" charset="0"/>
              </a:rPr>
              <a:t>несфокусирована</a:t>
            </a:r>
            <a:r>
              <a:rPr lang="ru-RU" dirty="0">
                <a:latin typeface="Candara" panose="020E0502030303020204" pitchFamily="34" charset="0"/>
              </a:rPr>
              <a:t>. Много целей == плохое качество ответов или галлюцинации</a:t>
            </a:r>
          </a:p>
          <a:p>
            <a:pPr algn="l">
              <a:buFont typeface="+mj-lt"/>
              <a:buAutoNum type="arabicPeriod"/>
            </a:pPr>
            <a:r>
              <a:rPr lang="ru-RU" dirty="0">
                <a:latin typeface="Candara" panose="020E0502030303020204" pitchFamily="34" charset="0"/>
              </a:rPr>
              <a:t> Для начала, научитесь управлять одним </a:t>
            </a:r>
            <a:r>
              <a:rPr lang="en-US" dirty="0">
                <a:latin typeface="Candara" panose="020E0502030303020204" pitchFamily="34" charset="0"/>
              </a:rPr>
              <a:t>AI </a:t>
            </a:r>
            <a:r>
              <a:rPr lang="ru-RU" dirty="0">
                <a:latin typeface="Candara" panose="020E0502030303020204" pitchFamily="34" charset="0"/>
              </a:rPr>
              <a:t>сотрудником на стадии 2. Не стремитесь к автономности, пока не будет 3-5 успешных сотрудников</a:t>
            </a: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BDEAC914-278B-FDD4-B22F-E15238897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01" y="724201"/>
            <a:ext cx="4047797" cy="4047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3711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1192</TotalTime>
  <Words>3057</Words>
  <Application>Microsoft Office PowerPoint</Application>
  <PresentationFormat>On-screen Show (16:9)</PresentationFormat>
  <Paragraphs>248</Paragraphs>
  <Slides>22</Slides>
  <Notes>22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Calibri</vt:lpstr>
      <vt:lpstr>Consolas</vt:lpstr>
      <vt:lpstr>Aptos Display</vt:lpstr>
      <vt:lpstr>Arial</vt:lpstr>
      <vt:lpstr>Aptos</vt:lpstr>
      <vt:lpstr>Candara</vt:lpstr>
      <vt:lpstr>Office Theme</vt:lpstr>
      <vt:lpstr>АВТОМАТИЗАЦИЯ бизнес процессов c AI</vt:lpstr>
      <vt:lpstr>Кто на этой неделе больше 5 раз делал одно и то же?</vt:lpstr>
      <vt:lpstr>А у кого есть Excel, который понимает только один человек в компании?</vt:lpstr>
      <vt:lpstr>PowerPoint Presentation</vt:lpstr>
      <vt:lpstr>PowerPoint Presentation</vt:lpstr>
      <vt:lpstr>PowerPoint Presentation</vt:lpstr>
      <vt:lpstr>PowerPoint Presentation</vt:lpstr>
      <vt:lpstr>Сегодня наймем первого  AI-работника </vt:lpstr>
      <vt:lpstr>Познакомимся поближе</vt:lpstr>
      <vt:lpstr>Идеи вакансий для AI-сотрудника</vt:lpstr>
      <vt:lpstr>Выбираем первого работника Правило «3П»</vt:lpstr>
      <vt:lpstr>Пропускаем вакансии через 3П</vt:lpstr>
      <vt:lpstr>Знакомьтесь: Clarvitra</vt:lpstr>
      <vt:lpstr>Узнаете?</vt:lpstr>
      <vt:lpstr>Должностная инструкция</vt:lpstr>
      <vt:lpstr>Результат</vt:lpstr>
      <vt:lpstr>Воронка продаж: статистика</vt:lpstr>
      <vt:lpstr>Воронка продаж: скорость</vt:lpstr>
      <vt:lpstr>PowerPoint Presentation</vt:lpstr>
      <vt:lpstr>PowerPoint Presentation</vt:lpstr>
      <vt:lpstr>Нанимаем работника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</dc:creator>
  <cp:lastModifiedBy>Богдан Велущак</cp:lastModifiedBy>
  <cp:revision>104</cp:revision>
  <dcterms:modified xsi:type="dcterms:W3CDTF">2026-09-29T08:33:15Z</dcterms:modified>
</cp:coreProperties>
</file>